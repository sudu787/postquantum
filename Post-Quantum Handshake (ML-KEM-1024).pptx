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embeddedFontLst>
    <p:embeddedFont>
      <p:font typeface="JetBrains Mono" panose="02000009000000000000" pitchFamily="49" charset="0"/>
      <p:regular r:id="rId18"/>
      <p:bold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lays out how we will build a simplified TLS 1.3–style handshake that stays secure against both classical and quantum computers using one post-quantum suite, ML-KEM-1024 with ML-DSA-87, and then measure what that security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reasons this is timely. Shor’s algorithm breaks classical public-key crypto at any key size, so making X25519 bigger doesn’t help. Harvest-now-decrypt-later means today’s traffic is already at risk. And the standards are final: NSA’s CNSA 2.0 already requires ML-KEM-1024 for national-security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choice, following our professor’s advice: one scheme, strong enough on its own. X25519 can’t be that scheme, because Shor breaks elliptic curves at every size. ML-KEM-1024 is the top NIST level: the best known classical lattice attacks cost about 2^256 operations and the best quantum ones about 2^232 (core-SVP estimates). The trade-off is that there is no classical fallback, so we use the largest parameter set, a fixed suite and a tested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round trip. The client sends its ML-KEM-1024 public key and a nonce. The server encapsulates to get the ciphertext and shared secret, signs the transcript with ML-DSA-87, and replies. The client verifies, decapsulates, and both sides derive keys with HKDF-SHA384, then confirm with Finished MACs before switching to AES-256-GCM.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most homemade protocols go wrong. With one KEM there is no combiner, but the secret must still go through a proper KDF. The transcript must be bound in so nobody can swap parameters, the server must be authenticated with ML-DSA-87 or a MITM wins, and Finished MACs confirm both sides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prototype in Python because it’s quickest, using well-known libraries for every primitive. We never implement the math ourselves, only the protocol. Go’s standard library has ML-KEM-1024 for credible performance numbers, and OpenSSL 3.5, which supports the MLKEM1024 group, is our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module has one job, so each can be unit tested on its own. Test vectors for ML-KEM-1024 and ML-DSA-87 come from the libraries, and we add tests that both sides derive identical keys and that any flipped byte breaks the handshake.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week ends with something that runs, and a clear test for “done”. Week 1 is post-quantum from the start, so the plumbing is built around the large keys we will actually use. The bonus week turns the project into a security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offensive half of the project. Every defense in the design exists because of a specific attack, so we prove it by first disabling the defense and showing the attack works, then re-enabling it. The harvest-now-decrypt-later row compares a classical X25519 build, given a simulated Shor oracle, with our ML-KEM-1024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we answer: what does Category 5 quantum safety cost? Expect computation to be cheap and bytes to be expensive, especially ML-DSA-87 signatures. The interesting results show up under packet loss, when a larger ClientHello needs more TCP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concrete outputs. The write-up is where the project can grow toward novelty, for example KEM-based authentication (KEMTLS) to replace the large signature. And we state clearly that hand-rolled protocol code is for research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7028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778000"/>
            <a:ext cx="10566400" cy="426720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97028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778000"/>
            <a:ext cx="10566400" cy="426720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5FD4C4"/>
                </a:solidFill>
                <a:latin typeface="JetBrains Mono" pitchFamily="49" charset="0"/>
                <a:ea typeface="JetBrains Mono" pitchFamily="49" charset="-122"/>
                <a:cs typeface="JetBrains Mono" pitchFamily="49" charset="-120"/>
              </a:rPr>
              <a:t>PROJECT PLAN · CRYPTOGRAPHY</a:t>
            </a:r>
            <a:endParaRPr lang="en-US" sz="1400" dirty="0"/>
          </a:p>
        </p:txBody>
      </p:sp>
      <p:sp>
        <p:nvSpPr>
          <p:cNvPr id="3" name="Text 1"/>
          <p:cNvSpPr/>
          <p:nvPr>
            <p:ph type="title"/>
          </p:nvPr>
        </p:nvSpPr>
        <p:spPr>
          <a:xfrm>
            <a:off x="812800" y="2212340"/>
            <a:ext cx="10883392" cy="1518920"/>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6F5F0"/>
                </a:solidFill>
                <a:latin typeface="IBM Plex Sans" pitchFamily="34" charset="0"/>
                <a:ea typeface="IBM Plex Sans" pitchFamily="34" charset="-122"/>
                <a:cs typeface="IBM Plex Sans" pitchFamily="34" charset="-120"/>
              </a:rPr>
              <a:t>Building a Post-Quantum Handshake</a:t>
            </a:r>
            <a:endParaRPr lang="en-US" sz="5600" dirty="0"/>
          </a:p>
        </p:txBody>
      </p:sp>
      <p:sp>
        <p:nvSpPr>
          <p:cNvPr id="4" name="Text 2"/>
          <p:cNvSpPr/>
          <p:nvPr/>
        </p:nvSpPr>
        <p:spPr>
          <a:xfrm>
            <a:off x="812800" y="3959860"/>
            <a:ext cx="10883392"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8C4D6"/>
                </a:solidFill>
                <a:latin typeface="IBM Plex Sans" pitchFamily="34" charset="0"/>
                <a:ea typeface="IBM Plex Sans" pitchFamily="34" charset="-122"/>
                <a:cs typeface="IBM Plex Sans" pitchFamily="34" charset="-120"/>
              </a:rPr>
              <a:t>ML-KEM-1024 + ML-DSA-87 key exchange — designed, implemented, attacked and benchmarked from scratch</a:t>
            </a:r>
            <a:endParaRPr lang="en-US" sz="2000" dirty="0"/>
          </a:p>
        </p:txBody>
      </p:sp>
      <p:sp>
        <p:nvSpPr>
          <p:cNvPr id="5" name="Text 3"/>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A99AF"/>
                </a:solidFill>
                <a:latin typeface="IBM Plex Sans" pitchFamily="34" charset="0"/>
                <a:ea typeface="IBM Plex Sans" pitchFamily="34" charset="-122"/>
                <a:cs typeface="IBM Plex Sans" pitchFamily="34" charset="-120"/>
              </a:rPr>
              <a:t>Suddu · ABV-IIITM Gwalior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A6E"/>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Why quantum-safe key exchange, and why now</a:t>
            </a:r>
            <a:endParaRPr lang="en-US" sz="3600" dirty="0"/>
          </a:p>
        </p:txBody>
      </p:sp>
      <p:sp>
        <p:nvSpPr>
          <p:cNvPr id="4" name="Shape 2"/>
          <p:cNvSpPr/>
          <p:nvPr/>
        </p:nvSpPr>
        <p:spPr>
          <a:xfrm>
            <a:off x="815975" y="2040255"/>
            <a:ext cx="3380317" cy="4001770"/>
          </a:xfrm>
          <a:prstGeom prst="roundRect">
            <a:avLst>
              <a:gd name="adj" fmla="val 2912"/>
            </a:avLst>
          </a:prstGeom>
          <a:solidFill>
            <a:srgbClr val="FFFFFC"/>
          </a:solidFill>
          <a:ln w="6350">
            <a:solidFill>
              <a:srgbClr val="DAD7CC"/>
            </a:solidFill>
            <a:prstDash val="solid"/>
          </a:ln>
        </p:spPr>
      </p:sp>
      <p:sp>
        <p:nvSpPr>
          <p:cNvPr id="5" name="Text 3"/>
          <p:cNvSpPr/>
          <p:nvPr/>
        </p:nvSpPr>
        <p:spPr>
          <a:xfrm>
            <a:off x="1096716" y="2320996"/>
            <a:ext cx="2903401"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0B7A6E"/>
                </a:solidFill>
                <a:latin typeface="JetBrains Mono" pitchFamily="49" charset="0"/>
                <a:ea typeface="JetBrains Mono" pitchFamily="49" charset="-122"/>
                <a:cs typeface="JetBrains Mono" pitchFamily="49" charset="-120"/>
              </a:rPr>
              <a:t>01</a:t>
            </a:r>
            <a:endParaRPr lang="en-US" sz="2800" dirty="0"/>
          </a:p>
        </p:txBody>
      </p:sp>
      <p:sp>
        <p:nvSpPr>
          <p:cNvPr id="6" name="Text 4"/>
          <p:cNvSpPr/>
          <p:nvPr/>
        </p:nvSpPr>
        <p:spPr>
          <a:xfrm>
            <a:off x="1096716" y="2945836"/>
            <a:ext cx="290340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Shor’s algorithm</a:t>
            </a:r>
            <a:endParaRPr lang="en-US" sz="2000" dirty="0"/>
          </a:p>
        </p:txBody>
      </p:sp>
      <p:sp>
        <p:nvSpPr>
          <p:cNvPr id="7" name="Text 5"/>
          <p:cNvSpPr/>
          <p:nvPr/>
        </p:nvSpPr>
        <p:spPr>
          <a:xfrm>
            <a:off x="1096716" y="3377636"/>
            <a:ext cx="2903401"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A large quantum computer breaks RSA, Diffie-Hellman and elliptic curves — at any key size.</a:t>
            </a:r>
            <a:endParaRPr lang="en-US" sz="1500" dirty="0"/>
          </a:p>
        </p:txBody>
      </p:sp>
      <p:sp>
        <p:nvSpPr>
          <p:cNvPr id="8" name="Shape 6"/>
          <p:cNvSpPr/>
          <p:nvPr/>
        </p:nvSpPr>
        <p:spPr>
          <a:xfrm>
            <a:off x="4405842" y="2040255"/>
            <a:ext cx="3380317" cy="4001770"/>
          </a:xfrm>
          <a:prstGeom prst="roundRect">
            <a:avLst>
              <a:gd name="adj" fmla="val 2912"/>
            </a:avLst>
          </a:prstGeom>
          <a:solidFill>
            <a:srgbClr val="FFFFFC"/>
          </a:solidFill>
          <a:ln w="6350">
            <a:solidFill>
              <a:srgbClr val="DAD7CC"/>
            </a:solidFill>
            <a:prstDash val="solid"/>
          </a:ln>
        </p:spPr>
      </p:sp>
      <p:sp>
        <p:nvSpPr>
          <p:cNvPr id="9" name="Text 7"/>
          <p:cNvSpPr/>
          <p:nvPr/>
        </p:nvSpPr>
        <p:spPr>
          <a:xfrm>
            <a:off x="4686582" y="2320996"/>
            <a:ext cx="2903401"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0B7A6E"/>
                </a:solidFill>
                <a:latin typeface="JetBrains Mono" pitchFamily="49" charset="0"/>
                <a:ea typeface="JetBrains Mono" pitchFamily="49" charset="-122"/>
                <a:cs typeface="JetBrains Mono" pitchFamily="49" charset="-120"/>
              </a:rPr>
              <a:t>02</a:t>
            </a:r>
            <a:endParaRPr lang="en-US" sz="2800" dirty="0"/>
          </a:p>
        </p:txBody>
      </p:sp>
      <p:sp>
        <p:nvSpPr>
          <p:cNvPr id="10" name="Text 8"/>
          <p:cNvSpPr/>
          <p:nvPr/>
        </p:nvSpPr>
        <p:spPr>
          <a:xfrm>
            <a:off x="4686582" y="2945836"/>
            <a:ext cx="2903401"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Harvest now, decrypt later</a:t>
            </a:r>
            <a:endParaRPr lang="en-US" sz="2000" dirty="0"/>
          </a:p>
        </p:txBody>
      </p:sp>
      <p:sp>
        <p:nvSpPr>
          <p:cNvPr id="11" name="Text 9"/>
          <p:cNvSpPr/>
          <p:nvPr/>
        </p:nvSpPr>
        <p:spPr>
          <a:xfrm>
            <a:off x="4686582" y="3682436"/>
            <a:ext cx="2903401"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Traffic recorded today can be decrypted once quantum hardware exists, so key exchange has to change first.</a:t>
            </a:r>
            <a:endParaRPr lang="en-US" sz="1500" dirty="0"/>
          </a:p>
        </p:txBody>
      </p:sp>
      <p:sp>
        <p:nvSpPr>
          <p:cNvPr id="12" name="Shape 10"/>
          <p:cNvSpPr/>
          <p:nvPr/>
        </p:nvSpPr>
        <p:spPr>
          <a:xfrm>
            <a:off x="7995709" y="2040255"/>
            <a:ext cx="3380317" cy="4001770"/>
          </a:xfrm>
          <a:prstGeom prst="roundRect">
            <a:avLst>
              <a:gd name="adj" fmla="val 2912"/>
            </a:avLst>
          </a:prstGeom>
          <a:solidFill>
            <a:srgbClr val="FFFFFC"/>
          </a:solidFill>
          <a:ln w="6350">
            <a:solidFill>
              <a:srgbClr val="DAD7CC"/>
            </a:solidFill>
            <a:prstDash val="solid"/>
          </a:ln>
        </p:spPr>
      </p:sp>
      <p:sp>
        <p:nvSpPr>
          <p:cNvPr id="13" name="Text 11"/>
          <p:cNvSpPr/>
          <p:nvPr/>
        </p:nvSpPr>
        <p:spPr>
          <a:xfrm>
            <a:off x="8276449" y="2320996"/>
            <a:ext cx="2903401"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0B7A6E"/>
                </a:solidFill>
                <a:latin typeface="JetBrains Mono" pitchFamily="49" charset="0"/>
                <a:ea typeface="JetBrains Mono" pitchFamily="49" charset="-122"/>
                <a:cs typeface="JetBrains Mono" pitchFamily="49" charset="-120"/>
              </a:rPr>
              <a:t>03</a:t>
            </a:r>
            <a:endParaRPr lang="en-US" sz="2800" dirty="0"/>
          </a:p>
        </p:txBody>
      </p:sp>
      <p:sp>
        <p:nvSpPr>
          <p:cNvPr id="14" name="Text 12"/>
          <p:cNvSpPr/>
          <p:nvPr/>
        </p:nvSpPr>
        <p:spPr>
          <a:xfrm>
            <a:off x="8276449" y="2945836"/>
            <a:ext cx="290340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3D"/>
                </a:solidFill>
                <a:latin typeface="IBM Plex Sans" pitchFamily="34" charset="0"/>
                <a:ea typeface="IBM Plex Sans" pitchFamily="34" charset="-122"/>
                <a:cs typeface="IBM Plex Sans" pitchFamily="34" charset="-120"/>
              </a:rPr>
              <a:t>The standards are here</a:t>
            </a:r>
            <a:endParaRPr lang="en-US" sz="2000" dirty="0"/>
          </a:p>
        </p:txBody>
      </p:sp>
      <p:sp>
        <p:nvSpPr>
          <p:cNvPr id="15" name="Text 13"/>
          <p:cNvSpPr/>
          <p:nvPr/>
        </p:nvSpPr>
        <p:spPr>
          <a:xfrm>
            <a:off x="8276449" y="3377636"/>
            <a:ext cx="2903401" cy="113030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IBM Plex Sans" pitchFamily="34" charset="0"/>
                <a:ea typeface="IBM Plex Sans" pitchFamily="34" charset="-122"/>
                <a:cs typeface="IBM Plex Sans" pitchFamily="34" charset="-120"/>
              </a:rPr>
              <a:t>NIST published ML-KEM (FIPS 203) and ML-DSA (FIPS 204) in 2024. NSA CNSA 2.0 requires ML-KEM-1024.</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FD4C4"/>
                </a:solidFill>
                <a:latin typeface="JetBrains Mono" pitchFamily="49" charset="0"/>
                <a:ea typeface="JetBrains Mono" pitchFamily="49" charset="-122"/>
                <a:cs typeface="JetBrains Mono" pitchFamily="49" charset="-120"/>
              </a:rPr>
              <a:t>THE DESIGN</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5F0"/>
                </a:solidFill>
                <a:latin typeface="IBM Plex Sans" pitchFamily="34" charset="0"/>
                <a:ea typeface="IBM Plex Sans" pitchFamily="34" charset="-122"/>
                <a:cs typeface="IBM Plex Sans" pitchFamily="34" charset="-120"/>
              </a:rPr>
              <a:t>One scheme, strong against both</a:t>
            </a:r>
            <a:endParaRPr lang="en-US" sz="3600" dirty="0"/>
          </a:p>
        </p:txBody>
      </p:sp>
      <p:sp>
        <p:nvSpPr>
          <p:cNvPr id="4" name="Shape 2"/>
          <p:cNvSpPr/>
          <p:nvPr/>
        </p:nvSpPr>
        <p:spPr>
          <a:xfrm>
            <a:off x="815975" y="1989455"/>
            <a:ext cx="2993849" cy="2066431"/>
          </a:xfrm>
          <a:prstGeom prst="roundRect">
            <a:avLst>
              <a:gd name="adj" fmla="val 4763"/>
            </a:avLst>
          </a:prstGeom>
          <a:solidFill>
            <a:srgbClr val="1B2A40"/>
          </a:solidFill>
          <a:ln w="6350">
            <a:solidFill>
              <a:srgbClr val="2E4260"/>
            </a:solidFill>
            <a:prstDash val="solid"/>
          </a:ln>
        </p:spPr>
      </p:sp>
      <p:sp>
        <p:nvSpPr>
          <p:cNvPr id="5" name="Text 3"/>
          <p:cNvSpPr/>
          <p:nvPr/>
        </p:nvSpPr>
        <p:spPr>
          <a:xfrm>
            <a:off x="1071316" y="2244796"/>
            <a:ext cx="255766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99AF"/>
                </a:solidFill>
                <a:latin typeface="JetBrains Mono" pitchFamily="49" charset="0"/>
                <a:ea typeface="JetBrains Mono" pitchFamily="49" charset="-122"/>
                <a:cs typeface="JetBrains Mono" pitchFamily="49" charset="-120"/>
              </a:rPr>
              <a:t>CLASSICAL ATTACKER</a:t>
            </a:r>
            <a:endParaRPr lang="en-US" sz="1200" dirty="0"/>
          </a:p>
        </p:txBody>
      </p:sp>
      <p:sp>
        <p:nvSpPr>
          <p:cNvPr id="6" name="Text 4"/>
          <p:cNvSpPr/>
          <p:nvPr/>
        </p:nvSpPr>
        <p:spPr>
          <a:xfrm>
            <a:off x="1071316" y="2559755"/>
            <a:ext cx="2557663" cy="39116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F6F5F0"/>
                </a:solidFill>
                <a:latin typeface="IBM Plex Sans" pitchFamily="34" charset="0"/>
                <a:ea typeface="IBM Plex Sans" pitchFamily="34" charset="-122"/>
                <a:cs typeface="IBM Plex Sans" pitchFamily="34" charset="-120"/>
              </a:rPr>
              <a:t>Out of reach</a:t>
            </a:r>
            <a:endParaRPr lang="en-US" sz="2400" dirty="0"/>
          </a:p>
        </p:txBody>
      </p:sp>
      <p:sp>
        <p:nvSpPr>
          <p:cNvPr id="7" name="Text 5"/>
          <p:cNvSpPr/>
          <p:nvPr/>
        </p:nvSpPr>
        <p:spPr>
          <a:xfrm>
            <a:off x="1071316" y="3027116"/>
            <a:ext cx="2557663"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C4D6"/>
                </a:solidFill>
                <a:latin typeface="IBM Plex Sans" pitchFamily="34" charset="0"/>
                <a:ea typeface="IBM Plex Sans" pitchFamily="34" charset="-122"/>
                <a:cs typeface="IBM Plex Sans" pitchFamily="34" charset="-120"/>
              </a:rPr>
              <a:t>Best known lattice attacks: ~2^256 operations. NIST Category 5.</a:t>
            </a:r>
            <a:endParaRPr lang="en-US" sz="1400" dirty="0"/>
          </a:p>
        </p:txBody>
      </p:sp>
      <p:sp>
        <p:nvSpPr>
          <p:cNvPr id="8" name="Text 6"/>
          <p:cNvSpPr/>
          <p:nvPr/>
        </p:nvSpPr>
        <p:spPr>
          <a:xfrm>
            <a:off x="3990799" y="2667071"/>
            <a:ext cx="365760" cy="736600"/>
          </a:xfrm>
          <a:prstGeom prst="rect">
            <a:avLst/>
          </a:prstGeom>
          <a:noFill/>
          <a:ln/>
        </p:spPr>
        <p:txBody>
          <a:bodyPr wrap="square" lIns="0" tIns="0" rIns="0" bIns="0" rtlCol="0" anchor="t">
            <a:normAutofit/>
          </a:bodyPr>
          <a:lstStyle/>
          <a:p>
            <a:pPr algn="l" indent="0" marL="0">
              <a:lnSpc>
                <a:spcPts val="5600"/>
              </a:lnSpc>
              <a:buNone/>
            </a:pPr>
            <a:r>
              <a:rPr lang="en-US" sz="4000" b="1" dirty="0">
                <a:solidFill>
                  <a:srgbClr val="5FD4C4"/>
                </a:solidFill>
                <a:latin typeface="IBM Plex Sans" pitchFamily="34" charset="0"/>
                <a:ea typeface="IBM Plex Sans" pitchFamily="34" charset="-122"/>
                <a:cs typeface="IBM Plex Sans" pitchFamily="34" charset="-120"/>
              </a:rPr>
              <a:t>&amp;</a:t>
            </a:r>
            <a:endParaRPr lang="en-US" sz="4000" dirty="0"/>
          </a:p>
        </p:txBody>
      </p:sp>
      <p:sp>
        <p:nvSpPr>
          <p:cNvPr id="9" name="Shape 7"/>
          <p:cNvSpPr/>
          <p:nvPr/>
        </p:nvSpPr>
        <p:spPr>
          <a:xfrm>
            <a:off x="4476574" y="1989455"/>
            <a:ext cx="2993884" cy="2066431"/>
          </a:xfrm>
          <a:prstGeom prst="roundRect">
            <a:avLst>
              <a:gd name="adj" fmla="val 4763"/>
            </a:avLst>
          </a:prstGeom>
          <a:solidFill>
            <a:srgbClr val="1B2A40"/>
          </a:solidFill>
          <a:ln w="6350">
            <a:solidFill>
              <a:srgbClr val="2E4260"/>
            </a:solidFill>
            <a:prstDash val="solid"/>
          </a:ln>
        </p:spPr>
      </p:sp>
      <p:sp>
        <p:nvSpPr>
          <p:cNvPr id="10" name="Text 8"/>
          <p:cNvSpPr/>
          <p:nvPr/>
        </p:nvSpPr>
        <p:spPr>
          <a:xfrm>
            <a:off x="4731914" y="2244796"/>
            <a:ext cx="2557699"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99AF"/>
                </a:solidFill>
                <a:latin typeface="JetBrains Mono" pitchFamily="49" charset="0"/>
                <a:ea typeface="JetBrains Mono" pitchFamily="49" charset="-122"/>
                <a:cs typeface="JetBrains Mono" pitchFamily="49" charset="-120"/>
              </a:rPr>
              <a:t>QUANTUM ATTACKER</a:t>
            </a:r>
            <a:endParaRPr lang="en-US" sz="1200" dirty="0"/>
          </a:p>
        </p:txBody>
      </p:sp>
      <p:sp>
        <p:nvSpPr>
          <p:cNvPr id="11" name="Text 9"/>
          <p:cNvSpPr/>
          <p:nvPr/>
        </p:nvSpPr>
        <p:spPr>
          <a:xfrm>
            <a:off x="4731914" y="2559755"/>
            <a:ext cx="2557699" cy="391160"/>
          </a:xfrm>
          <a:prstGeom prst="rect">
            <a:avLst/>
          </a:prstGeom>
          <a:noFill/>
          <a:ln/>
        </p:spPr>
        <p:txBody>
          <a:bodyPr wrap="square" lIns="0" tIns="0" rIns="0" bIns="0" rtlCol="0" anchor="t">
            <a:normAutofit/>
          </a:bodyPr>
          <a:lstStyle/>
          <a:p>
            <a:pPr algn="l" indent="0" marL="0">
              <a:lnSpc>
                <a:spcPts val="2880"/>
              </a:lnSpc>
              <a:buNone/>
            </a:pPr>
            <a:r>
              <a:rPr lang="en-US" sz="2400" b="1" dirty="0">
                <a:solidFill>
                  <a:srgbClr val="F6F5F0"/>
                </a:solidFill>
                <a:latin typeface="IBM Plex Sans" pitchFamily="34" charset="0"/>
                <a:ea typeface="IBM Plex Sans" pitchFamily="34" charset="-122"/>
                <a:cs typeface="IBM Plex Sans" pitchFamily="34" charset="-120"/>
              </a:rPr>
              <a:t>No shortcut</a:t>
            </a:r>
            <a:endParaRPr lang="en-US" sz="2400" dirty="0"/>
          </a:p>
        </p:txBody>
      </p:sp>
      <p:sp>
        <p:nvSpPr>
          <p:cNvPr id="12" name="Text 10"/>
          <p:cNvSpPr/>
          <p:nvPr/>
        </p:nvSpPr>
        <p:spPr>
          <a:xfrm>
            <a:off x="4731914" y="3027116"/>
            <a:ext cx="2557699"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8C4D6"/>
                </a:solidFill>
                <a:latin typeface="IBM Plex Sans" pitchFamily="34" charset="0"/>
                <a:ea typeface="IBM Plex Sans" pitchFamily="34" charset="-122"/>
                <a:cs typeface="IBM Plex Sans" pitchFamily="34" charset="-120"/>
              </a:rPr>
              <a:t>Shor does not apply to lattices. Best quantum attack: ~2^232.</a:t>
            </a:r>
            <a:endParaRPr lang="en-US" sz="1400" dirty="0"/>
          </a:p>
        </p:txBody>
      </p:sp>
      <p:pic>
        <p:nvPicPr>
          <p:cNvPr id="13" name="Image 0" descr="arrow-right">    </p:cNvPr>
          <p:cNvPicPr>
            <a:picLocks noChangeAspect="1"/>
          </p:cNvPicPr>
          <p:nvPr/>
        </p:nvPicPr>
        <p:blipFill>
          <a:blip r:embed="rId1"/>
          <a:srcRect l="0" r="0" t="0" b="0"/>
          <a:stretch/>
        </p:blipFill>
        <p:spPr>
          <a:xfrm>
            <a:off x="7651433" y="2870271"/>
            <a:ext cx="558800" cy="304800"/>
          </a:xfrm>
          <a:prstGeom prst="rect">
            <a:avLst/>
          </a:prstGeom>
        </p:spPr>
      </p:pic>
      <p:sp>
        <p:nvSpPr>
          <p:cNvPr id="14" name="Shape 11"/>
          <p:cNvSpPr/>
          <p:nvPr/>
        </p:nvSpPr>
        <p:spPr>
          <a:xfrm>
            <a:off x="8388033" y="2126686"/>
            <a:ext cx="2991168" cy="1791970"/>
          </a:xfrm>
          <a:prstGeom prst="roundRect">
            <a:avLst>
              <a:gd name="adj" fmla="val 5670"/>
            </a:avLst>
          </a:prstGeom>
          <a:solidFill>
            <a:srgbClr val="5FD4C4"/>
          </a:solidFill>
          <a:ln/>
        </p:spPr>
      </p:sp>
      <p:sp>
        <p:nvSpPr>
          <p:cNvPr id="15" name="Text 12"/>
          <p:cNvSpPr/>
          <p:nvPr/>
        </p:nvSpPr>
        <p:spPr>
          <a:xfrm>
            <a:off x="8642033" y="2380686"/>
            <a:ext cx="255766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F1A2B"/>
                </a:solidFill>
                <a:latin typeface="JetBrains Mono" pitchFamily="49" charset="0"/>
                <a:ea typeface="JetBrains Mono" pitchFamily="49" charset="-122"/>
                <a:cs typeface="JetBrains Mono" pitchFamily="49" charset="-120"/>
              </a:rPr>
              <a:t>SESSION KEY</a:t>
            </a:r>
            <a:endParaRPr lang="en-US" sz="1200" dirty="0"/>
          </a:p>
        </p:txBody>
      </p:sp>
      <p:sp>
        <p:nvSpPr>
          <p:cNvPr id="16" name="Text 13"/>
          <p:cNvSpPr/>
          <p:nvPr/>
        </p:nvSpPr>
        <p:spPr>
          <a:xfrm>
            <a:off x="8642033" y="2695646"/>
            <a:ext cx="2557663"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0F1A2B"/>
                </a:solidFill>
                <a:latin typeface="IBM Plex Sans" pitchFamily="34" charset="0"/>
                <a:ea typeface="IBM Plex Sans" pitchFamily="34" charset="-122"/>
                <a:cs typeface="IBM Plex Sans" pitchFamily="34" charset="-120"/>
              </a:rPr>
              <a:t>ML-KEM-1024 + HKDF-SHA384</a:t>
            </a:r>
            <a:endParaRPr lang="en-US" sz="2000" dirty="0"/>
          </a:p>
        </p:txBody>
      </p:sp>
      <p:sp>
        <p:nvSpPr>
          <p:cNvPr id="17" name="Text 14"/>
          <p:cNvSpPr/>
          <p:nvPr/>
        </p:nvSpPr>
        <p:spPr>
          <a:xfrm>
            <a:off x="8642033" y="3406846"/>
            <a:ext cx="2557663"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4304A"/>
                </a:solidFill>
                <a:latin typeface="IBM Plex Sans" pitchFamily="34" charset="0"/>
                <a:ea typeface="IBM Plex Sans" pitchFamily="34" charset="-122"/>
                <a:cs typeface="IBM Plex Sans" pitchFamily="34" charset="-120"/>
              </a:rPr>
              <a:t>Same suite as NSA CNSA 2.0.</a:t>
            </a:r>
            <a:endParaRPr lang="en-US" sz="1400" dirty="0"/>
          </a:p>
        </p:txBody>
      </p:sp>
      <p:sp>
        <p:nvSpPr>
          <p:cNvPr id="18" name="Text 15"/>
          <p:cNvSpPr/>
          <p:nvPr/>
        </p:nvSpPr>
        <p:spPr>
          <a:xfrm>
            <a:off x="812800" y="4414662"/>
            <a:ext cx="5350129"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B8C4D6"/>
                </a:solidFill>
                <a:latin typeface="IBM Plex Sans" pitchFamily="34" charset="0"/>
                <a:ea typeface="IBM Plex Sans" pitchFamily="34" charset="-122"/>
                <a:cs typeface="IBM Plex Sans" pitchFamily="34" charset="-120"/>
              </a:rPr>
              <a:t>Trade-off?</a:t>
            </a:r>
            <a:r>
              <a:rPr lang="en-US" sz="1500" dirty="0">
                <a:solidFill>
                  <a:srgbClr val="B8C4D6"/>
                </a:solidFill>
                <a:latin typeface="IBM Plex Sans" pitchFamily="34" charset="0"/>
                <a:ea typeface="IBM Plex Sans" pitchFamily="34" charset="-122"/>
                <a:cs typeface="IBM Plex Sans" pitchFamily="34" charset="-120"/>
              </a:rPr>
              <a:t> No classical fallback if ML-KEM itself is ever broken.</a:t>
            </a:r>
            <a:endParaRPr lang="en-US" sz="1500" dirty="0"/>
          </a:p>
        </p:txBody>
      </p:sp>
      <p:sp>
        <p:nvSpPr>
          <p:cNvPr id="19" name="Text 16"/>
          <p:cNvSpPr/>
          <p:nvPr/>
        </p:nvSpPr>
        <p:spPr>
          <a:xfrm>
            <a:off x="6184900" y="4414662"/>
            <a:ext cx="6007100" cy="577850"/>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B8C4D6"/>
                </a:solidFill>
                <a:latin typeface="IBM Plex Sans" pitchFamily="34" charset="0"/>
                <a:ea typeface="IBM Plex Sans" pitchFamily="34" charset="-122"/>
                <a:cs typeface="IBM Plex Sans" pitchFamily="34" charset="-120"/>
              </a:rPr>
              <a:t>Mitigation?</a:t>
            </a:r>
            <a:r>
              <a:rPr lang="en-US" sz="1500" dirty="0">
                <a:solidFill>
                  <a:srgbClr val="B8C4D6"/>
                </a:solidFill>
                <a:latin typeface="IBM Plex Sans" pitchFamily="34" charset="0"/>
                <a:ea typeface="IBM Plex Sans" pitchFamily="34" charset="-122"/>
                <a:cs typeface="IBM Plex Sans" pitchFamily="34" charset="-120"/>
              </a:rPr>
              <a:t> Highest parameter set, fixed suite, KAT-tested library.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The handshake, message by message</a:t>
            </a:r>
            <a:endParaRPr lang="en-US" sz="3600" dirty="0"/>
          </a:p>
        </p:txBody>
      </p:sp>
      <p:sp>
        <p:nvSpPr>
          <p:cNvPr id="3" name="Text 1"/>
          <p:cNvSpPr/>
          <p:nvPr/>
        </p:nvSpPr>
        <p:spPr>
          <a:xfrm>
            <a:off x="812800" y="1468121"/>
            <a:ext cx="313944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A6E"/>
                </a:solidFill>
                <a:latin typeface="JetBrains Mono" pitchFamily="49" charset="0"/>
                <a:ea typeface="JetBrains Mono" pitchFamily="49" charset="-122"/>
                <a:cs typeface="JetBrains Mono" pitchFamily="49" charset="-120"/>
              </a:rPr>
              <a:t>CLIENT</a:t>
            </a:r>
            <a:endParaRPr lang="en-US" sz="1200" dirty="0"/>
          </a:p>
        </p:txBody>
      </p:sp>
      <p:sp>
        <p:nvSpPr>
          <p:cNvPr id="4" name="Text 2"/>
          <p:cNvSpPr/>
          <p:nvPr/>
        </p:nvSpPr>
        <p:spPr>
          <a:xfrm>
            <a:off x="8239760" y="1468121"/>
            <a:ext cx="3139440" cy="23876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0B7A6E"/>
                </a:solidFill>
                <a:latin typeface="JetBrains Mono" pitchFamily="49" charset="0"/>
                <a:ea typeface="JetBrains Mono" pitchFamily="49" charset="-122"/>
                <a:cs typeface="JetBrains Mono" pitchFamily="49" charset="-120"/>
              </a:rPr>
              <a:t>SERVER</a:t>
            </a:r>
            <a:endParaRPr lang="en-US" sz="1200" dirty="0"/>
          </a:p>
        </p:txBody>
      </p:sp>
      <p:sp>
        <p:nvSpPr>
          <p:cNvPr id="5" name="Text 3"/>
          <p:cNvSpPr/>
          <p:nvPr/>
        </p:nvSpPr>
        <p:spPr>
          <a:xfrm>
            <a:off x="815975" y="1837055"/>
            <a:ext cx="3041650" cy="769761"/>
          </a:xfrm>
          <a:prstGeom prst="roundRect">
            <a:avLst>
              <a:gd name="adj" fmla="val 12786"/>
            </a:avLst>
          </a:prstGeom>
          <a:solidFill>
            <a:srgbClr val="FFFFFC"/>
          </a:solidFill>
          <a:ln w="6350">
            <a:solidFill>
              <a:srgbClr val="DAD7CC"/>
            </a:solidFill>
            <a:prstDash val="solid"/>
          </a:ln>
        </p:spPr>
        <p:txBody>
          <a:bodyPr wrap="square" lIns="150313" tIns="124913" rIns="69812" bIns="99513"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Generate ML-KEM-1024 pair (pk, sk)</a:t>
            </a:r>
            <a:endParaRPr lang="en-US" sz="1300" dirty="0"/>
          </a:p>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Pick a fresh 32-byte nonce_c</a:t>
            </a:r>
            <a:endParaRPr lang="en-US" sz="1300" dirty="0"/>
          </a:p>
        </p:txBody>
      </p:sp>
      <p:sp>
        <p:nvSpPr>
          <p:cNvPr id="6" name="Text 4"/>
          <p:cNvSpPr/>
          <p:nvPr/>
        </p:nvSpPr>
        <p:spPr>
          <a:xfrm>
            <a:off x="6240233" y="2039055"/>
            <a:ext cx="2962698"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ClientHello: pk, nonce_c</a:t>
            </a:r>
            <a:endParaRPr lang="en-US" sz="1200" dirty="0"/>
          </a:p>
        </p:txBody>
      </p:sp>
      <p:pic>
        <p:nvPicPr>
          <p:cNvPr id="7" name="Image 0" descr="connector">    </p:cNvPr>
          <p:cNvPicPr>
            <a:picLocks noChangeAspect="1"/>
          </p:cNvPicPr>
          <p:nvPr/>
        </p:nvPicPr>
        <p:blipFill>
          <a:blip r:embed="rId1"/>
          <a:srcRect l="0" r="0" t="0" b="0"/>
          <a:stretch/>
        </p:blipFill>
        <p:spPr>
          <a:xfrm>
            <a:off x="5943600" y="2303216"/>
            <a:ext cx="3556000" cy="101600"/>
          </a:xfrm>
          <a:prstGeom prst="rect">
            <a:avLst/>
          </a:prstGeom>
        </p:spPr>
      </p:pic>
      <p:sp>
        <p:nvSpPr>
          <p:cNvPr id="8" name="Text 5"/>
          <p:cNvSpPr/>
          <p:nvPr/>
        </p:nvSpPr>
        <p:spPr>
          <a:xfrm>
            <a:off x="2385529" y="3083137"/>
            <a:ext cx="416970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ServerHello: ct, nonce_s, cert, sig</a:t>
            </a:r>
            <a:endParaRPr lang="en-US" sz="1200" dirty="0"/>
          </a:p>
        </p:txBody>
      </p:sp>
      <p:pic>
        <p:nvPicPr>
          <p:cNvPr id="9" name="Image 1" descr="connector">    </p:cNvPr>
          <p:cNvPicPr>
            <a:picLocks noChangeAspect="1"/>
          </p:cNvPicPr>
          <p:nvPr/>
        </p:nvPicPr>
        <p:blipFill>
          <a:blip r:embed="rId2"/>
          <a:srcRect l="0" r="0" t="0" b="0"/>
          <a:stretch/>
        </p:blipFill>
        <p:spPr>
          <a:xfrm>
            <a:off x="2692400" y="3347298"/>
            <a:ext cx="3556000" cy="101600"/>
          </a:xfrm>
          <a:prstGeom prst="rect">
            <a:avLst/>
          </a:prstGeom>
        </p:spPr>
      </p:pic>
      <p:sp>
        <p:nvSpPr>
          <p:cNvPr id="10" name="Text 6"/>
          <p:cNvSpPr/>
          <p:nvPr/>
        </p:nvSpPr>
        <p:spPr>
          <a:xfrm>
            <a:off x="8334375" y="2765566"/>
            <a:ext cx="3041650" cy="1000901"/>
          </a:xfrm>
          <a:prstGeom prst="roundRect">
            <a:avLst>
              <a:gd name="adj" fmla="val 9834"/>
            </a:avLst>
          </a:prstGeom>
          <a:solidFill>
            <a:srgbClr val="FFFFFC"/>
          </a:solidFill>
          <a:ln w="6350">
            <a:solidFill>
              <a:srgbClr val="DAD7CC"/>
            </a:solidFill>
            <a:prstDash val="solid"/>
          </a:ln>
        </p:spPr>
        <p:txBody>
          <a:bodyPr wrap="square" lIns="150313" tIns="124913" rIns="69811" bIns="99513"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Pick a fresh nonce_s</a:t>
            </a:r>
            <a:endParaRPr lang="en-US" sz="1300" dirty="0"/>
          </a:p>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(ct, ss) = Encaps(pk)</a:t>
            </a:r>
            <a:endParaRPr lang="en-US" sz="1300" dirty="0"/>
          </a:p>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Sign transcript with ML-DSA-87</a:t>
            </a:r>
            <a:endParaRPr lang="en-US" sz="1300" dirty="0"/>
          </a:p>
        </p:txBody>
      </p:sp>
      <p:sp>
        <p:nvSpPr>
          <p:cNvPr id="11" name="Text 7"/>
          <p:cNvSpPr/>
          <p:nvPr/>
        </p:nvSpPr>
        <p:spPr>
          <a:xfrm>
            <a:off x="815975" y="3925218"/>
            <a:ext cx="3041650" cy="1000901"/>
          </a:xfrm>
          <a:prstGeom prst="roundRect">
            <a:avLst>
              <a:gd name="adj" fmla="val 9834"/>
            </a:avLst>
          </a:prstGeom>
          <a:solidFill>
            <a:srgbClr val="FFFFFC"/>
          </a:solidFill>
          <a:ln w="6350">
            <a:solidFill>
              <a:srgbClr val="DAD7CC"/>
            </a:solidFill>
            <a:prstDash val="solid"/>
          </a:ln>
        </p:spPr>
        <p:txBody>
          <a:bodyPr wrap="square" lIns="150313" tIns="124913" rIns="69812" bIns="99513"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Verify ML-DSA-87 signature</a:t>
            </a:r>
            <a:endParaRPr lang="en-US" sz="1300" dirty="0"/>
          </a:p>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ss = Decaps(sk, ct)</a:t>
            </a:r>
            <a:endParaRPr lang="en-US" sz="1300" dirty="0"/>
          </a:p>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Derive keys from ss + transcript</a:t>
            </a:r>
            <a:endParaRPr lang="en-US" sz="1300" dirty="0"/>
          </a:p>
        </p:txBody>
      </p:sp>
      <p:sp>
        <p:nvSpPr>
          <p:cNvPr id="12" name="Text 8"/>
          <p:cNvSpPr/>
          <p:nvPr/>
        </p:nvSpPr>
        <p:spPr>
          <a:xfrm>
            <a:off x="4724361" y="4242789"/>
            <a:ext cx="274324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Finished MACs (both ways)</a:t>
            </a:r>
            <a:endParaRPr lang="en-US" sz="1200" dirty="0"/>
          </a:p>
        </p:txBody>
      </p:sp>
      <p:pic>
        <p:nvPicPr>
          <p:cNvPr id="13" name="Image 2" descr="connector">    </p:cNvPr>
          <p:cNvPicPr>
            <a:picLocks noChangeAspect="1"/>
          </p:cNvPicPr>
          <p:nvPr/>
        </p:nvPicPr>
        <p:blipFill>
          <a:blip r:embed="rId3"/>
          <a:srcRect l="0" r="0" t="0" b="0"/>
          <a:stretch/>
        </p:blipFill>
        <p:spPr>
          <a:xfrm>
            <a:off x="4318000" y="4506948"/>
            <a:ext cx="3556000" cy="101600"/>
          </a:xfrm>
          <a:prstGeom prst="rect">
            <a:avLst/>
          </a:prstGeom>
        </p:spPr>
      </p:pic>
      <p:sp>
        <p:nvSpPr>
          <p:cNvPr id="14" name="Text 9"/>
          <p:cNvSpPr/>
          <p:nvPr/>
        </p:nvSpPr>
        <p:spPr>
          <a:xfrm>
            <a:off x="8334375" y="4156357"/>
            <a:ext cx="3041650" cy="538621"/>
          </a:xfrm>
          <a:prstGeom prst="roundRect">
            <a:avLst>
              <a:gd name="adj" fmla="val 18274"/>
            </a:avLst>
          </a:prstGeom>
          <a:solidFill>
            <a:srgbClr val="FFFFFC"/>
          </a:solidFill>
          <a:ln w="6350">
            <a:solidFill>
              <a:srgbClr val="DAD7CC"/>
            </a:solidFill>
            <a:prstDash val="solid"/>
          </a:ln>
        </p:spPr>
        <p:txBody>
          <a:bodyPr wrap="square" lIns="150313" tIns="124913" rIns="69811" bIns="99513"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Verify client’s Finished MAC</a:t>
            </a:r>
            <a:endParaRPr lang="en-US" sz="1300" dirty="0"/>
          </a:p>
        </p:txBody>
      </p:sp>
      <p:sp>
        <p:nvSpPr>
          <p:cNvPr id="15" name="Text 10"/>
          <p:cNvSpPr/>
          <p:nvPr/>
        </p:nvSpPr>
        <p:spPr>
          <a:xfrm>
            <a:off x="812800" y="5081694"/>
            <a:ext cx="10566400" cy="535940"/>
          </a:xfrm>
          <a:prstGeom prst="roundRect">
            <a:avLst>
              <a:gd name="adj" fmla="val 18957"/>
            </a:avLst>
          </a:prstGeom>
          <a:solidFill>
            <a:srgbClr val="0F1A2B"/>
          </a:solidFill>
          <a:ln/>
        </p:spPr>
        <p:txBody>
          <a:bodyPr wrap="square" lIns="198842" tIns="122642" rIns="0" bIns="97242" rtlCol="0" anchor="t">
            <a:normAutofit/>
          </a:bodyPr>
          <a:lstStyle/>
          <a:p>
            <a:pPr algn="l" indent="0" marL="0">
              <a:lnSpc>
                <a:spcPts val="1820"/>
              </a:lnSpc>
              <a:buNone/>
            </a:pPr>
            <a:r>
              <a:rPr lang="en-US" sz="1300" dirty="0">
                <a:solidFill>
                  <a:srgbClr val="F6F5F0"/>
                </a:solidFill>
                <a:latin typeface="JetBrains Mono" pitchFamily="49" charset="0"/>
                <a:ea typeface="JetBrains Mono" pitchFamily="49" charset="-122"/>
                <a:cs typeface="JetBrains Mono" pitchFamily="49" charset="-120"/>
              </a:rPr>
              <a:t>Both: master = HKDF-SHA384(ss, transcript_hash) → AES-256-GCM traffic keys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AE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Key schedule: four things to get right</a:t>
            </a:r>
            <a:endParaRPr lang="en-US" sz="3600" dirty="0"/>
          </a:p>
        </p:txBody>
      </p:sp>
      <p:sp>
        <p:nvSpPr>
          <p:cNvPr id="3" name="Text 1"/>
          <p:cNvSpPr/>
          <p:nvPr/>
        </p:nvSpPr>
        <p:spPr>
          <a:xfrm>
            <a:off x="812800" y="1620521"/>
            <a:ext cx="5105400" cy="3387725"/>
          </a:xfrm>
          <a:prstGeom prst="roundRect">
            <a:avLst>
              <a:gd name="adj" fmla="val 2999"/>
            </a:avLst>
          </a:prstGeom>
          <a:solidFill>
            <a:srgbClr val="0F1A2B"/>
          </a:solidFill>
          <a:ln/>
        </p:spPr>
        <p:txBody>
          <a:bodyPr wrap="square" lIns="275042" tIns="401090" rIns="140168" bIns="375689" rtlCol="0" anchor="t">
            <a:normAutofit/>
          </a:bodyPr>
          <a:lstStyle/>
          <a:p>
            <a:pPr algn="l" indent="0" marL="0">
              <a:lnSpc>
                <a:spcPts val="2210"/>
              </a:lnSpc>
              <a:buNone/>
            </a:pPr>
            <a:r>
              <a:rPr lang="en-US" sz="1300" dirty="0">
                <a:solidFill>
                  <a:srgbClr val="E6EDF5"/>
                </a:solidFill>
                <a:latin typeface="JetBrains Mono" pitchFamily="49" charset="0"/>
                <a:ea typeface="JetBrains Mono" pitchFamily="49" charset="-122"/>
                <a:cs typeface="JetBrains Mono" pitchFamily="49" charset="-120"/>
              </a:rPr>
              <a:t>ss = ML-KEM-1024.Decaps(sk, ct)</a:t>
            </a:r>
            <a:endParaRPr lang="en-US" sz="1300" dirty="0"/>
          </a:p>
          <a:p>
            <a:pPr algn="l" indent="0" marL="0">
              <a:lnSpc>
                <a:spcPts val="2210"/>
              </a:lnSpc>
              <a:buNone/>
            </a:pPr>
            <a:r>
              <a:rPr lang="en-US" sz="1300" dirty="0">
                <a:solidFill>
                  <a:srgbClr val="E6EDF5"/>
                </a:solidFill>
                <a:latin typeface="JetBrains Mono" pitchFamily="49" charset="0"/>
                <a:ea typeface="JetBrains Mono" pitchFamily="49" charset="-122"/>
                <a:cs typeface="JetBrains Mono" pitchFamily="49" charset="-120"/>
              </a:rPr>
              <a:t># one 32-byte secret, IND-CCA2</a:t>
            </a:r>
            <a:endParaRPr lang="en-US" sz="1300" dirty="0"/>
          </a:p>
          <a:p>
            <a:pPr algn="l" indent="0" marL="0">
              <a:lnSpc>
                <a:spcPts val="2210"/>
              </a:lnSpc>
              <a:buNone/>
            </a:pPr>
            <a:endParaRPr lang="en-US" sz="1300" dirty="0"/>
          </a:p>
          <a:p>
            <a:pPr algn="l" indent="0" marL="0">
              <a:lnSpc>
                <a:spcPts val="2210"/>
              </a:lnSpc>
              <a:buNone/>
            </a:pPr>
            <a:r>
              <a:rPr lang="en-US" sz="1300" dirty="0">
                <a:solidFill>
                  <a:srgbClr val="8A99AF"/>
                </a:solidFill>
                <a:latin typeface="JetBrains Mono" pitchFamily="49" charset="0"/>
                <a:ea typeface="JetBrains Mono" pitchFamily="49" charset="-122"/>
                <a:cs typeface="JetBrains Mono" pitchFamily="49" charset="-120"/>
              </a:rPr>
              <a:t># running hash of every message</a:t>
            </a:r>
            <a:endParaRPr lang="en-US" sz="1300" dirty="0"/>
          </a:p>
          <a:p>
            <a:pPr algn="l" indent="0" marL="0">
              <a:lnSpc>
                <a:spcPts val="2210"/>
              </a:lnSpc>
              <a:buNone/>
            </a:pPr>
            <a:r>
              <a:rPr lang="en-US" sz="1300" dirty="0">
                <a:solidFill>
                  <a:srgbClr val="E6EDF5"/>
                </a:solidFill>
                <a:latin typeface="JetBrains Mono" pitchFamily="49" charset="0"/>
                <a:ea typeface="JetBrains Mono" pitchFamily="49" charset="-122"/>
                <a:cs typeface="JetBrains Mono" pitchFamily="49" charset="-120"/>
              </a:rPr>
              <a:t>th = SHA-384(CH ‖ SH ‖ …)</a:t>
            </a:r>
            <a:endParaRPr lang="en-US" sz="1300" dirty="0"/>
          </a:p>
          <a:p>
            <a:pPr algn="l" indent="0" marL="0">
              <a:lnSpc>
                <a:spcPts val="2210"/>
              </a:lnSpc>
              <a:buNone/>
            </a:pPr>
            <a:endParaRPr lang="en-US" sz="1300" dirty="0"/>
          </a:p>
          <a:p>
            <a:pPr algn="l" indent="0" marL="0">
              <a:lnSpc>
                <a:spcPts val="2210"/>
              </a:lnSpc>
              <a:buNone/>
            </a:pPr>
            <a:r>
              <a:rPr lang="en-US" sz="1300" dirty="0">
                <a:solidFill>
                  <a:srgbClr val="E6EDF5"/>
                </a:solidFill>
                <a:latin typeface="JetBrains Mono" pitchFamily="49" charset="0"/>
                <a:ea typeface="JetBrains Mono" pitchFamily="49" charset="-122"/>
                <a:cs typeface="JetBrains Mono" pitchFamily="49" charset="-120"/>
              </a:rPr>
              <a:t>hs = HKDF-SHA384.Extract(0, ss)</a:t>
            </a:r>
            <a:endParaRPr lang="en-US" sz="1300" dirty="0"/>
          </a:p>
          <a:p>
            <a:pPr algn="l" indent="0" marL="0">
              <a:lnSpc>
                <a:spcPts val="2210"/>
              </a:lnSpc>
              <a:buNone/>
            </a:pPr>
            <a:r>
              <a:rPr lang="en-US" sz="1300" dirty="0">
                <a:solidFill>
                  <a:srgbClr val="E6EDF5"/>
                </a:solidFill>
                <a:latin typeface="JetBrains Mono" pitchFamily="49" charset="0"/>
                <a:ea typeface="JetBrains Mono" pitchFamily="49" charset="-122"/>
                <a:cs typeface="JetBrains Mono" pitchFamily="49" charset="-120"/>
              </a:rPr>
              <a:t>keys = HKDF-Expand(hs, label ‖ th)</a:t>
            </a:r>
            <a:endParaRPr lang="en-US" sz="1300" dirty="0"/>
          </a:p>
          <a:p>
            <a:pPr algn="l" indent="0" marL="0">
              <a:lnSpc>
                <a:spcPts val="2210"/>
              </a:lnSpc>
              <a:buNone/>
            </a:pPr>
            <a:r>
              <a:rPr lang="en-US" sz="1300" dirty="0">
                <a:solidFill>
                  <a:srgbClr val="5FD4C4"/>
                </a:solidFill>
                <a:latin typeface="JetBrains Mono" pitchFamily="49" charset="0"/>
                <a:ea typeface="JetBrains Mono" pitchFamily="49" charset="-122"/>
                <a:cs typeface="JetBrains Mono" pitchFamily="49" charset="-120"/>
              </a:rPr>
              <a:t>→ client_key, server_key, finished_key</a:t>
            </a:r>
            <a:endParaRPr lang="en-US" sz="1300" dirty="0"/>
          </a:p>
        </p:txBody>
      </p:sp>
      <p:sp>
        <p:nvSpPr>
          <p:cNvPr id="4" name="Text 2"/>
          <p:cNvSpPr/>
          <p:nvPr/>
        </p:nvSpPr>
        <p:spPr>
          <a:xfrm>
            <a:off x="6273800" y="1620521"/>
            <a:ext cx="52585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7A6E"/>
                </a:solidFill>
                <a:latin typeface="IBM Plex Sans" pitchFamily="34" charset="0"/>
                <a:ea typeface="IBM Plex Sans" pitchFamily="34" charset="-122"/>
                <a:cs typeface="IBM Plex Sans" pitchFamily="34" charset="-120"/>
              </a:rPr>
              <a:t>1 · One secret, one KDF</a:t>
            </a:r>
            <a:endParaRPr lang="en-US" sz="1600" dirty="0"/>
          </a:p>
        </p:txBody>
      </p:sp>
      <p:sp>
        <p:nvSpPr>
          <p:cNvPr id="5" name="Text 3"/>
          <p:cNvSpPr/>
          <p:nvPr/>
        </p:nvSpPr>
        <p:spPr>
          <a:xfrm>
            <a:off x="6273800" y="1915161"/>
            <a:ext cx="5258562"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Use the ML-KEM secret only through HKDF-SHA384. Never use it as a key directly.</a:t>
            </a:r>
            <a:endParaRPr lang="en-US" sz="1300" dirty="0"/>
          </a:p>
        </p:txBody>
      </p:sp>
      <p:sp>
        <p:nvSpPr>
          <p:cNvPr id="6" name="Text 4"/>
          <p:cNvSpPr/>
          <p:nvPr/>
        </p:nvSpPr>
        <p:spPr>
          <a:xfrm>
            <a:off x="6273800" y="2571750"/>
            <a:ext cx="52585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7A6E"/>
                </a:solidFill>
                <a:latin typeface="IBM Plex Sans" pitchFamily="34" charset="0"/>
                <a:ea typeface="IBM Plex Sans" pitchFamily="34" charset="-122"/>
                <a:cs typeface="IBM Plex Sans" pitchFamily="34" charset="-120"/>
              </a:rPr>
              <a:t>2 · Transcript binding</a:t>
            </a:r>
            <a:endParaRPr lang="en-US" sz="1600" dirty="0"/>
          </a:p>
        </p:txBody>
      </p:sp>
      <p:sp>
        <p:nvSpPr>
          <p:cNvPr id="7" name="Text 5"/>
          <p:cNvSpPr/>
          <p:nvPr/>
        </p:nvSpPr>
        <p:spPr>
          <a:xfrm>
            <a:off x="6273800" y="2866389"/>
            <a:ext cx="5258562"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Hash every handshake message into the keys to stop tampering and downgrades.</a:t>
            </a:r>
            <a:endParaRPr lang="en-US" sz="1300" dirty="0"/>
          </a:p>
        </p:txBody>
      </p:sp>
      <p:sp>
        <p:nvSpPr>
          <p:cNvPr id="8" name="Text 6"/>
          <p:cNvSpPr/>
          <p:nvPr/>
        </p:nvSpPr>
        <p:spPr>
          <a:xfrm>
            <a:off x="6273800" y="3522982"/>
            <a:ext cx="52585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7A6E"/>
                </a:solidFill>
                <a:latin typeface="IBM Plex Sans" pitchFamily="34" charset="0"/>
                <a:ea typeface="IBM Plex Sans" pitchFamily="34" charset="-122"/>
                <a:cs typeface="IBM Plex Sans" pitchFamily="34" charset="-120"/>
              </a:rPr>
              <a:t>3 · Authentication</a:t>
            </a:r>
            <a:endParaRPr lang="en-US" sz="1600" dirty="0"/>
          </a:p>
        </p:txBody>
      </p:sp>
      <p:sp>
        <p:nvSpPr>
          <p:cNvPr id="9" name="Text 7"/>
          <p:cNvSpPr/>
          <p:nvPr/>
        </p:nvSpPr>
        <p:spPr>
          <a:xfrm>
            <a:off x="6273800" y="3817621"/>
            <a:ext cx="5258562"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Server signs the transcript with ML-DSA-87. No classical signature anywhere.</a:t>
            </a:r>
            <a:endParaRPr lang="en-US" sz="1300" dirty="0"/>
          </a:p>
        </p:txBody>
      </p:sp>
      <p:sp>
        <p:nvSpPr>
          <p:cNvPr id="10" name="Text 8"/>
          <p:cNvSpPr/>
          <p:nvPr/>
        </p:nvSpPr>
        <p:spPr>
          <a:xfrm>
            <a:off x="6273800" y="4474211"/>
            <a:ext cx="52585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7A6E"/>
                </a:solidFill>
                <a:latin typeface="IBM Plex Sans" pitchFamily="34" charset="0"/>
                <a:ea typeface="IBM Plex Sans" pitchFamily="34" charset="-122"/>
                <a:cs typeface="IBM Plex Sans" pitchFamily="34" charset="-120"/>
              </a:rPr>
              <a:t>4 · Finished MACs</a:t>
            </a:r>
            <a:endParaRPr lang="en-US" sz="1600" dirty="0"/>
          </a:p>
        </p:txBody>
      </p:sp>
      <p:sp>
        <p:nvSpPr>
          <p:cNvPr id="11" name="Text 9"/>
          <p:cNvSpPr/>
          <p:nvPr/>
        </p:nvSpPr>
        <p:spPr>
          <a:xfrm>
            <a:off x="6273800" y="4768850"/>
            <a:ext cx="5258562" cy="26479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IBM Plex Sans" pitchFamily="34" charset="0"/>
                <a:ea typeface="IBM Plex Sans" pitchFamily="34" charset="-122"/>
                <a:cs typeface="IBM Plex Sans" pitchFamily="34" charset="-120"/>
              </a:rPr>
              <a:t>Each side MACs the transcript to prove it derived the same keys.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A6E"/>
                </a:solidFill>
                <a:latin typeface="JetBrains Mono" pitchFamily="49" charset="0"/>
                <a:ea typeface="JetBrains Mono" pitchFamily="49" charset="-122"/>
                <a:cs typeface="JetBrains Mono" pitchFamily="49" charset="-120"/>
              </a:rPr>
              <a:t>THE BUILD</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Tech stack</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946771"/>
          <a:ext cx="10555111" cy="3326271"/>
        </p:xfrm>
        <a:graphic>
          <a:graphicData uri="http://schemas.openxmlformats.org/drawingml/2006/table">
            <a:tbl>
              <a:tblPr/>
              <a:tblGrid>
                <a:gridCol w="2322124"/>
                <a:gridCol w="4010942"/>
                <a:gridCol w="4222044"/>
              </a:tblGrid>
              <a:tr h="384669">
                <a:tc>
                  <a:txBody>
                    <a:bodyPr/>
                    <a:lstStyle/>
                    <a:p>
                      <a:pPr indent="0" marL="0">
                        <a:lnSpc>
                          <a:spcPts val="1960"/>
                        </a:lnSpc>
                        <a:buNone/>
                      </a:pPr>
                      <a:r>
                        <a:rPr lang="en-US" sz="1400" b="1" dirty="0">
                          <a:solidFill>
                            <a:srgbClr val="F6F5F0"/>
                          </a:solidFill>
                          <a:latin typeface="IBM Plex Sans" pitchFamily="34" charset="0"/>
                          <a:ea typeface="IBM Plex Sans" pitchFamily="34" charset="-122"/>
                          <a:cs typeface="IBM Plex Sans" pitchFamily="34" charset="-120"/>
                        </a:rPr>
                        <a:t>Layer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10192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01926"/>
                      </a:solidFill>
                      <a:prstDash val="solid"/>
                      <a:round/>
                      <a:headEnd type="none" w="med" len="med"/>
                      <a:tailEnd type="none" w="med" len="med"/>
                    </a:lnB>
                    <a:solidFill>
                      <a:srgbClr val="0F1A2B"/>
                    </a:solidFill>
                  </a:tcPr>
                </a:tc>
                <a:tc>
                  <a:txBody>
                    <a:bodyPr/>
                    <a:lstStyle/>
                    <a:p>
                      <a:pPr indent="0" marL="0">
                        <a:lnSpc>
                          <a:spcPts val="1960"/>
                        </a:lnSpc>
                        <a:buNone/>
                      </a:pPr>
                      <a:r>
                        <a:rPr lang="en-US" sz="1400" b="1" dirty="0">
                          <a:solidFill>
                            <a:srgbClr val="F6F5F0"/>
                          </a:solidFill>
                          <a:latin typeface="IBM Plex Sans" pitchFamily="34" charset="0"/>
                          <a:ea typeface="IBM Plex Sans" pitchFamily="34" charset="-122"/>
                          <a:cs typeface="IBM Plex Sans" pitchFamily="34" charset="-120"/>
                        </a:rPr>
                        <a:t>Choice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01926"/>
                      </a:solidFill>
                      <a:prstDash val="solid"/>
                      <a:round/>
                      <a:headEnd type="none" w="med" len="med"/>
                      <a:tailEnd type="none" w="med" len="med"/>
                    </a:lnL>
                    <a:lnR w="12700" cap="flat" cmpd="sng" algn="ctr">
                      <a:solidFill>
                        <a:srgbClr val="10192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01926"/>
                      </a:solidFill>
                      <a:prstDash val="solid"/>
                      <a:round/>
                      <a:headEnd type="none" w="med" len="med"/>
                      <a:tailEnd type="none" w="med" len="med"/>
                    </a:lnB>
                    <a:solidFill>
                      <a:srgbClr val="0F1A2B"/>
                    </a:solidFill>
                  </a:tcPr>
                </a:tc>
                <a:tc>
                  <a:txBody>
                    <a:bodyPr/>
                    <a:lstStyle/>
                    <a:p>
                      <a:pPr indent="0" marL="0">
                        <a:lnSpc>
                          <a:spcPts val="1960"/>
                        </a:lnSpc>
                        <a:buNone/>
                      </a:pPr>
                      <a:r>
                        <a:rPr lang="en-US" sz="1400" b="1" dirty="0">
                          <a:solidFill>
                            <a:srgbClr val="F6F5F0"/>
                          </a:solidFill>
                          <a:latin typeface="IBM Plex Sans" pitchFamily="34" charset="0"/>
                          <a:ea typeface="IBM Plex Sans" pitchFamily="34" charset="-122"/>
                          <a:cs typeface="IBM Plex Sans" pitchFamily="34" charset="-120"/>
                        </a:rPr>
                        <a:t>Why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01926"/>
                      </a:solidFill>
                      <a:prstDash val="solid"/>
                      <a:round/>
                      <a:headEnd type="none" w="med" len="med"/>
                      <a:tailEnd type="none" w="med" len="med"/>
                    </a:lnL>
                    <a:lnR w="12700" cap="flat" cmpd="sng" algn="ctr">
                      <a:solidFill>
                        <a:srgbClr val="10192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01926"/>
                      </a:solidFill>
                      <a:prstDash val="solid"/>
                      <a:round/>
                      <a:headEnd type="none" w="med" len="med"/>
                      <a:tailEnd type="none" w="med" len="med"/>
                    </a:lnB>
                    <a:solidFill>
                      <a:srgbClr val="0F1A2B"/>
                    </a:solidFill>
                  </a:tcPr>
                </a:tc>
              </a:tr>
              <a:tr h="384669">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Prototype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01926"/>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Python 3.12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01926"/>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Fastest path to a working handshake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01926"/>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633589">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Symmetric + hash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cryptography (HKDF-SHA384, AES-256-GCM)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Audited, standard primitives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384669">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Post-quantum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liboqs-python (ML-KEM-1024, ML-DSA-87)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Open Quantum Safe reference bindings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4669">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Transport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Raw TCP sockets, length-prefixed frames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Full control over every byte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384669">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Performance port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Go (crypto/mlkem, ML-KEM-1024)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Cleaner timing numbers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84669">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Validation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OpenSSL 3.5 s_server / s_client + Wireshark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Compare against the real MLKEM1024 group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384669">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Network simulation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Linux tc netem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Add latency and packet loss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Code structure</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4089" y="1631810"/>
          <a:ext cx="10555111" cy="3579989"/>
        </p:xfrm>
        <a:graphic>
          <a:graphicData uri="http://schemas.openxmlformats.org/drawingml/2006/table">
            <a:tbl>
              <a:tblPr/>
              <a:tblGrid>
                <a:gridCol w="3166533"/>
                <a:gridCol w="5910862"/>
                <a:gridCol w="1477716"/>
              </a:tblGrid>
              <a:tr h="357999">
                <a:tc>
                  <a:txBody>
                    <a:bodyPr/>
                    <a:lstStyle/>
                    <a:p>
                      <a:pPr indent="0" marL="0">
                        <a:lnSpc>
                          <a:spcPts val="1820"/>
                        </a:lnSpc>
                        <a:buNone/>
                      </a:pPr>
                      <a:r>
                        <a:rPr lang="en-US" sz="1300" b="1" dirty="0">
                          <a:solidFill>
                            <a:srgbClr val="F6F5F0"/>
                          </a:solidFill>
                          <a:latin typeface="JetBrains Mono" pitchFamily="49" charset="0"/>
                          <a:ea typeface="JetBrains Mono" pitchFamily="49" charset="-122"/>
                          <a:cs typeface="JetBrains Mono" pitchFamily="49" charset="-120"/>
                        </a:rPr>
                        <a:t>Module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10192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01926"/>
                      </a:solidFill>
                      <a:prstDash val="solid"/>
                      <a:round/>
                      <a:headEnd type="none" w="med" len="med"/>
                      <a:tailEnd type="none" w="med" len="med"/>
                    </a:lnB>
                    <a:solidFill>
                      <a:srgbClr val="0F1A2B"/>
                    </a:solidFill>
                  </a:tcPr>
                </a:tc>
                <a:tc>
                  <a:txBody>
                    <a:bodyPr/>
                    <a:lstStyle/>
                    <a:p>
                      <a:pPr indent="0" marL="0">
                        <a:lnSpc>
                          <a:spcPts val="1820"/>
                        </a:lnSpc>
                        <a:buNone/>
                      </a:pPr>
                      <a:r>
                        <a:rPr lang="en-US" sz="1300" b="1" dirty="0">
                          <a:solidFill>
                            <a:srgbClr val="F6F5F0"/>
                          </a:solidFill>
                          <a:latin typeface="JetBrains Mono" pitchFamily="49" charset="0"/>
                          <a:ea typeface="JetBrains Mono" pitchFamily="49" charset="-122"/>
                          <a:cs typeface="JetBrains Mono" pitchFamily="49" charset="-120"/>
                        </a:rPr>
                        <a:t>Responsibility</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101926"/>
                      </a:solidFill>
                      <a:prstDash val="solid"/>
                      <a:round/>
                      <a:headEnd type="none" w="med" len="med"/>
                      <a:tailEnd type="none" w="med" len="med"/>
                    </a:lnL>
                    <a:lnR w="12700" cap="flat" cmpd="sng" algn="ctr">
                      <a:solidFill>
                        <a:srgbClr val="10192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01926"/>
                      </a:solidFill>
                      <a:prstDash val="solid"/>
                      <a:round/>
                      <a:headEnd type="none" w="med" len="med"/>
                      <a:tailEnd type="none" w="med" len="med"/>
                    </a:lnB>
                    <a:solidFill>
                      <a:srgbClr val="0F1A2B"/>
                    </a:solidFill>
                  </a:tcPr>
                </a:tc>
                <a:tc>
                  <a:txBody>
                    <a:bodyPr/>
                    <a:lstStyle/>
                    <a:p>
                      <a:pPr indent="0" marL="0">
                        <a:lnSpc>
                          <a:spcPts val="1820"/>
                        </a:lnSpc>
                        <a:buNone/>
                      </a:pPr>
                      <a:r>
                        <a:rPr lang="en-US" sz="1300" b="1" dirty="0">
                          <a:solidFill>
                            <a:srgbClr val="F6F5F0"/>
                          </a:solidFill>
                          <a:latin typeface="JetBrains Mono" pitchFamily="49" charset="0"/>
                          <a:ea typeface="JetBrains Mono" pitchFamily="49" charset="-122"/>
                          <a:cs typeface="JetBrains Mono" pitchFamily="49" charset="-120"/>
                        </a:rPr>
                        <a:t>Week</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101926"/>
                      </a:solidFill>
                      <a:prstDash val="solid"/>
                      <a:round/>
                      <a:headEnd type="none" w="med" len="med"/>
                      <a:tailEnd type="none" w="med" len="med"/>
                    </a:lnL>
                    <a:lnR w="12700" cap="flat" cmpd="sng" algn="ctr">
                      <a:solidFill>
                        <a:srgbClr val="10192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01926"/>
                      </a:solidFill>
                      <a:prstDash val="solid"/>
                      <a:round/>
                      <a:headEnd type="none" w="med" len="med"/>
                      <a:tailEnd type="none" w="med" len="med"/>
                    </a:lnB>
                    <a:solidFill>
                      <a:srgbClr val="0F1A2B"/>
                    </a:solidFill>
                  </a:tcPr>
                </a:tc>
              </a:tr>
              <a:tr h="357999">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kex.py</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01926"/>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ML-KEM-1024 wrapper</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01926"/>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1–2</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01926"/>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999">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kdf.py</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HKDF-SHA384 key schedule</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1–2</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357999">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transcript.py</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Running SHA-384 transcript hash</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2</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999">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messages.py</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ClientHello / ServerHello encoding</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357999">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auth.py</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ML-DSA-87 signing</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3</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999">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record.py</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AES-256-GCM record layer</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357999">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client.py, server.py</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Handshake state machines</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1–3</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999">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bench/</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Timing harness, netem scripts, plots</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4</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357999">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attacks/</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MITM, downgrade, replay, HNDL demos</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JetBrains Mono" pitchFamily="49" charset="0"/>
                          <a:ea typeface="JetBrains Mono" pitchFamily="49" charset="-122"/>
                          <a:cs typeface="JetBrains Mono" pitchFamily="49" charset="-120"/>
                        </a:rPr>
                        <a:t>Bonus</a:t>
                      </a:r>
                      <a:endParaRPr lang="en-US" sz="1300" dirty="0">
                        <a:latin typeface="JetBrains Mono" charset="0"/>
                        <a:ea typeface="JetBrains Mono" charset="0"/>
                        <a:cs typeface="JetBrains Mono"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CEAE2"/>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Four-week roadmap</a:t>
            </a:r>
            <a:endParaRPr lang="en-US" sz="3600" dirty="0"/>
          </a:p>
        </p:txBody>
      </p:sp>
      <p:sp>
        <p:nvSpPr>
          <p:cNvPr id="3" name="Shape 1"/>
          <p:cNvSpPr/>
          <p:nvPr/>
        </p:nvSpPr>
        <p:spPr>
          <a:xfrm>
            <a:off x="815975" y="1674496"/>
            <a:ext cx="1986809" cy="4367530"/>
          </a:xfrm>
          <a:prstGeom prst="roundRect">
            <a:avLst>
              <a:gd name="adj" fmla="val 4954"/>
            </a:avLst>
          </a:prstGeom>
          <a:solidFill>
            <a:srgbClr val="FFFFFC"/>
          </a:solidFill>
          <a:ln w="6350">
            <a:solidFill>
              <a:srgbClr val="DAD7CC"/>
            </a:solidFill>
            <a:prstDash val="solid"/>
          </a:ln>
        </p:spPr>
      </p:sp>
      <p:sp>
        <p:nvSpPr>
          <p:cNvPr id="4" name="Text 2"/>
          <p:cNvSpPr/>
          <p:nvPr/>
        </p:nvSpPr>
        <p:spPr>
          <a:xfrm>
            <a:off x="995116" y="1853636"/>
            <a:ext cx="167932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A6E"/>
                </a:solidFill>
                <a:latin typeface="JetBrains Mono" pitchFamily="49" charset="0"/>
                <a:ea typeface="JetBrains Mono" pitchFamily="49" charset="-122"/>
                <a:cs typeface="JetBrains Mono" pitchFamily="49" charset="-120"/>
              </a:rPr>
              <a:t>WEEK 1</a:t>
            </a:r>
            <a:endParaRPr lang="en-US" sz="1200" dirty="0"/>
          </a:p>
        </p:txBody>
      </p:sp>
      <p:sp>
        <p:nvSpPr>
          <p:cNvPr id="5" name="Text 3"/>
          <p:cNvSpPr/>
          <p:nvPr/>
        </p:nvSpPr>
        <p:spPr>
          <a:xfrm>
            <a:off x="995116" y="2168596"/>
            <a:ext cx="1679328" cy="5435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PQ baseline</a:t>
            </a:r>
            <a:endParaRPr lang="en-US" sz="1700" dirty="0"/>
          </a:p>
        </p:txBody>
      </p:sp>
      <p:sp>
        <p:nvSpPr>
          <p:cNvPr id="6" name="Text 4"/>
          <p:cNvSpPr/>
          <p:nvPr/>
        </p:nvSpPr>
        <p:spPr>
          <a:xfrm>
            <a:off x="995116" y="2788357"/>
            <a:ext cx="167932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ML-KEM-1024 + HKDF + AES-GCM over TCP.</a:t>
            </a:r>
            <a:endParaRPr lang="en-US" sz="1300" dirty="0"/>
          </a:p>
        </p:txBody>
      </p:sp>
      <p:sp>
        <p:nvSpPr>
          <p:cNvPr id="7" name="Text 5"/>
          <p:cNvSpPr/>
          <p:nvPr/>
        </p:nvSpPr>
        <p:spPr>
          <a:xfrm>
            <a:off x="995116" y="5222807"/>
            <a:ext cx="1679328"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E"/>
                </a:solidFill>
                <a:latin typeface="IBM Plex Sans" pitchFamily="34" charset="0"/>
                <a:ea typeface="IBM Plex Sans" pitchFamily="34" charset="-122"/>
                <a:cs typeface="IBM Plex Sans" pitchFamily="34" charset="-120"/>
              </a:rPr>
              <a:t>Done when:</a:t>
            </a:r>
            <a:r>
              <a:rPr lang="en-US" sz="1200" dirty="0">
                <a:solidFill>
                  <a:srgbClr val="0B7A6E"/>
                </a:solidFill>
                <a:latin typeface="IBM Plex Sans" pitchFamily="34" charset="0"/>
                <a:ea typeface="IBM Plex Sans" pitchFamily="34" charset="-122"/>
                <a:cs typeface="IBM Plex Sans" pitchFamily="34" charset="-120"/>
              </a:rPr>
              <a:t> encrypted messages flow both ways.</a:t>
            </a:r>
            <a:endParaRPr lang="en-US" sz="1200" dirty="0"/>
          </a:p>
        </p:txBody>
      </p:sp>
      <p:sp>
        <p:nvSpPr>
          <p:cNvPr id="8" name="Shape 6"/>
          <p:cNvSpPr/>
          <p:nvPr/>
        </p:nvSpPr>
        <p:spPr>
          <a:xfrm>
            <a:off x="2961534" y="1674496"/>
            <a:ext cx="1986844" cy="4367530"/>
          </a:xfrm>
          <a:prstGeom prst="roundRect">
            <a:avLst>
              <a:gd name="adj" fmla="val 4954"/>
            </a:avLst>
          </a:prstGeom>
          <a:solidFill>
            <a:srgbClr val="FFFFFC"/>
          </a:solidFill>
          <a:ln w="6350">
            <a:solidFill>
              <a:srgbClr val="DAD7CC"/>
            </a:solidFill>
            <a:prstDash val="solid"/>
          </a:ln>
        </p:spPr>
      </p:sp>
      <p:sp>
        <p:nvSpPr>
          <p:cNvPr id="9" name="Text 7"/>
          <p:cNvSpPr/>
          <p:nvPr/>
        </p:nvSpPr>
        <p:spPr>
          <a:xfrm>
            <a:off x="3140675" y="1853636"/>
            <a:ext cx="167936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A6E"/>
                </a:solidFill>
                <a:latin typeface="JetBrains Mono" pitchFamily="49" charset="0"/>
                <a:ea typeface="JetBrains Mono" pitchFamily="49" charset="-122"/>
                <a:cs typeface="JetBrains Mono" pitchFamily="49" charset="-120"/>
              </a:rPr>
              <a:t>WEEK 2</a:t>
            </a:r>
            <a:endParaRPr lang="en-US" sz="1200" dirty="0"/>
          </a:p>
        </p:txBody>
      </p:sp>
      <p:sp>
        <p:nvSpPr>
          <p:cNvPr id="10" name="Text 8"/>
          <p:cNvSpPr/>
          <p:nvPr/>
        </p:nvSpPr>
        <p:spPr>
          <a:xfrm>
            <a:off x="3140675" y="2168596"/>
            <a:ext cx="167936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Bind the keys</a:t>
            </a:r>
            <a:endParaRPr lang="en-US" sz="1700" dirty="0"/>
          </a:p>
        </p:txBody>
      </p:sp>
      <p:sp>
        <p:nvSpPr>
          <p:cNvPr id="11" name="Text 9"/>
          <p:cNvSpPr/>
          <p:nvPr/>
        </p:nvSpPr>
        <p:spPr>
          <a:xfrm>
            <a:off x="3140675" y="2529278"/>
            <a:ext cx="167936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SHA-384 transcript hash and HKDF key schedule.</a:t>
            </a:r>
            <a:endParaRPr lang="en-US" sz="1300" dirty="0"/>
          </a:p>
        </p:txBody>
      </p:sp>
      <p:sp>
        <p:nvSpPr>
          <p:cNvPr id="12" name="Text 10"/>
          <p:cNvSpPr/>
          <p:nvPr/>
        </p:nvSpPr>
        <p:spPr>
          <a:xfrm>
            <a:off x="3140675" y="5436164"/>
            <a:ext cx="1679363"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E"/>
                </a:solidFill>
                <a:latin typeface="IBM Plex Sans" pitchFamily="34" charset="0"/>
                <a:ea typeface="IBM Plex Sans" pitchFamily="34" charset="-122"/>
                <a:cs typeface="IBM Plex Sans" pitchFamily="34" charset="-120"/>
              </a:rPr>
              <a:t>Done when:</a:t>
            </a:r>
            <a:r>
              <a:rPr lang="en-US" sz="1200" dirty="0">
                <a:solidFill>
                  <a:srgbClr val="0B7A6E"/>
                </a:solidFill>
                <a:latin typeface="IBM Plex Sans" pitchFamily="34" charset="0"/>
                <a:ea typeface="IBM Plex Sans" pitchFamily="34" charset="-122"/>
                <a:cs typeface="IBM Plex Sans" pitchFamily="34" charset="-120"/>
              </a:rPr>
              <a:t> both sides derive identical keys.</a:t>
            </a:r>
            <a:endParaRPr lang="en-US" sz="1200" dirty="0"/>
          </a:p>
        </p:txBody>
      </p:sp>
      <p:sp>
        <p:nvSpPr>
          <p:cNvPr id="13" name="Shape 11"/>
          <p:cNvSpPr/>
          <p:nvPr/>
        </p:nvSpPr>
        <p:spPr>
          <a:xfrm>
            <a:off x="5107129" y="1674496"/>
            <a:ext cx="1986809" cy="4367530"/>
          </a:xfrm>
          <a:prstGeom prst="roundRect">
            <a:avLst>
              <a:gd name="adj" fmla="val 4954"/>
            </a:avLst>
          </a:prstGeom>
          <a:solidFill>
            <a:srgbClr val="FFFFFC"/>
          </a:solidFill>
          <a:ln w="6350">
            <a:solidFill>
              <a:srgbClr val="DAD7CC"/>
            </a:solidFill>
            <a:prstDash val="solid"/>
          </a:ln>
        </p:spPr>
      </p:sp>
      <p:sp>
        <p:nvSpPr>
          <p:cNvPr id="14" name="Text 12"/>
          <p:cNvSpPr/>
          <p:nvPr/>
        </p:nvSpPr>
        <p:spPr>
          <a:xfrm>
            <a:off x="5286269" y="1853636"/>
            <a:ext cx="167932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A6E"/>
                </a:solidFill>
                <a:latin typeface="JetBrains Mono" pitchFamily="49" charset="0"/>
                <a:ea typeface="JetBrains Mono" pitchFamily="49" charset="-122"/>
                <a:cs typeface="JetBrains Mono" pitchFamily="49" charset="-120"/>
              </a:rPr>
              <a:t>WEEK 3</a:t>
            </a:r>
            <a:endParaRPr lang="en-US" sz="1200" dirty="0"/>
          </a:p>
        </p:txBody>
      </p:sp>
      <p:sp>
        <p:nvSpPr>
          <p:cNvPr id="15" name="Text 13"/>
          <p:cNvSpPr/>
          <p:nvPr/>
        </p:nvSpPr>
        <p:spPr>
          <a:xfrm>
            <a:off x="5286269" y="2168596"/>
            <a:ext cx="167932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Authenticate</a:t>
            </a:r>
            <a:endParaRPr lang="en-US" sz="1700" dirty="0"/>
          </a:p>
        </p:txBody>
      </p:sp>
      <p:sp>
        <p:nvSpPr>
          <p:cNvPr id="16" name="Text 14"/>
          <p:cNvSpPr/>
          <p:nvPr/>
        </p:nvSpPr>
        <p:spPr>
          <a:xfrm>
            <a:off x="5286269" y="2529278"/>
            <a:ext cx="167932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ML-DSA-87 signatures, plus Finished MACs.</a:t>
            </a:r>
            <a:endParaRPr lang="en-US" sz="1300" dirty="0"/>
          </a:p>
        </p:txBody>
      </p:sp>
      <p:sp>
        <p:nvSpPr>
          <p:cNvPr id="17" name="Text 15"/>
          <p:cNvSpPr/>
          <p:nvPr/>
        </p:nvSpPr>
        <p:spPr>
          <a:xfrm>
            <a:off x="5286269" y="5222807"/>
            <a:ext cx="1679328"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E"/>
                </a:solidFill>
                <a:latin typeface="IBM Plex Sans" pitchFamily="34" charset="0"/>
                <a:ea typeface="IBM Plex Sans" pitchFamily="34" charset="-122"/>
                <a:cs typeface="IBM Plex Sans" pitchFamily="34" charset="-120"/>
              </a:rPr>
              <a:t>Done when:</a:t>
            </a:r>
            <a:r>
              <a:rPr lang="en-US" sz="1200" dirty="0">
                <a:solidFill>
                  <a:srgbClr val="0B7A6E"/>
                </a:solidFill>
                <a:latin typeface="IBM Plex Sans" pitchFamily="34" charset="0"/>
                <a:ea typeface="IBM Plex Sans" pitchFamily="34" charset="-122"/>
                <a:cs typeface="IBM Plex Sans" pitchFamily="34" charset="-120"/>
              </a:rPr>
              <a:t> a tampered message aborts the handshake.</a:t>
            </a:r>
            <a:endParaRPr lang="en-US" sz="1200" dirty="0"/>
          </a:p>
        </p:txBody>
      </p:sp>
      <p:sp>
        <p:nvSpPr>
          <p:cNvPr id="18" name="Shape 16"/>
          <p:cNvSpPr/>
          <p:nvPr/>
        </p:nvSpPr>
        <p:spPr>
          <a:xfrm>
            <a:off x="7252688" y="1674496"/>
            <a:ext cx="1986809" cy="4367530"/>
          </a:xfrm>
          <a:prstGeom prst="roundRect">
            <a:avLst>
              <a:gd name="adj" fmla="val 4954"/>
            </a:avLst>
          </a:prstGeom>
          <a:solidFill>
            <a:srgbClr val="FFFFFC"/>
          </a:solidFill>
          <a:ln w="6350">
            <a:solidFill>
              <a:srgbClr val="DAD7CC"/>
            </a:solidFill>
            <a:prstDash val="solid"/>
          </a:ln>
        </p:spPr>
      </p:sp>
      <p:sp>
        <p:nvSpPr>
          <p:cNvPr id="19" name="Text 17"/>
          <p:cNvSpPr/>
          <p:nvPr/>
        </p:nvSpPr>
        <p:spPr>
          <a:xfrm>
            <a:off x="7431829" y="1853636"/>
            <a:ext cx="167932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B7A6E"/>
                </a:solidFill>
                <a:latin typeface="JetBrains Mono" pitchFamily="49" charset="0"/>
                <a:ea typeface="JetBrains Mono" pitchFamily="49" charset="-122"/>
                <a:cs typeface="JetBrains Mono" pitchFamily="49" charset="-120"/>
              </a:rPr>
              <a:t>WEEK 4</a:t>
            </a:r>
            <a:endParaRPr lang="en-US" sz="1200" dirty="0"/>
          </a:p>
        </p:txBody>
      </p:sp>
      <p:sp>
        <p:nvSpPr>
          <p:cNvPr id="20" name="Text 18"/>
          <p:cNvSpPr/>
          <p:nvPr/>
        </p:nvSpPr>
        <p:spPr>
          <a:xfrm>
            <a:off x="7431829" y="2168596"/>
            <a:ext cx="167932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IBM Plex Sans" pitchFamily="34" charset="0"/>
                <a:ea typeface="IBM Plex Sans" pitchFamily="34" charset="-122"/>
                <a:cs typeface="IBM Plex Sans" pitchFamily="34" charset="-120"/>
              </a:rPr>
              <a:t>Measure</a:t>
            </a:r>
            <a:endParaRPr lang="en-US" sz="1700" dirty="0"/>
          </a:p>
        </p:txBody>
      </p:sp>
      <p:sp>
        <p:nvSpPr>
          <p:cNvPr id="21" name="Text 19"/>
          <p:cNvSpPr/>
          <p:nvPr/>
        </p:nvSpPr>
        <p:spPr>
          <a:xfrm>
            <a:off x="7431829" y="2529278"/>
            <a:ext cx="167932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Benchmark harness, netem network runs, graphs.</a:t>
            </a:r>
            <a:endParaRPr lang="en-US" sz="1300" dirty="0"/>
          </a:p>
        </p:txBody>
      </p:sp>
      <p:sp>
        <p:nvSpPr>
          <p:cNvPr id="22" name="Text 20"/>
          <p:cNvSpPr/>
          <p:nvPr/>
        </p:nvSpPr>
        <p:spPr>
          <a:xfrm>
            <a:off x="7431829" y="5222807"/>
            <a:ext cx="1679328"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E"/>
                </a:solidFill>
                <a:latin typeface="IBM Plex Sans" pitchFamily="34" charset="0"/>
                <a:ea typeface="IBM Plex Sans" pitchFamily="34" charset="-122"/>
                <a:cs typeface="IBM Plex Sans" pitchFamily="34" charset="-120"/>
              </a:rPr>
              <a:t>Done when:</a:t>
            </a:r>
            <a:r>
              <a:rPr lang="en-US" sz="1200" dirty="0">
                <a:solidFill>
                  <a:srgbClr val="0B7A6E"/>
                </a:solidFill>
                <a:latin typeface="IBM Plex Sans" pitchFamily="34" charset="0"/>
                <a:ea typeface="IBM Plex Sans" pitchFamily="34" charset="-122"/>
                <a:cs typeface="IBM Plex Sans" pitchFamily="34" charset="-120"/>
              </a:rPr>
              <a:t> comparison charts are ready.</a:t>
            </a:r>
            <a:endParaRPr lang="en-US" sz="1200" dirty="0"/>
          </a:p>
        </p:txBody>
      </p:sp>
      <p:sp>
        <p:nvSpPr>
          <p:cNvPr id="23" name="Shape 21"/>
          <p:cNvSpPr/>
          <p:nvPr/>
        </p:nvSpPr>
        <p:spPr>
          <a:xfrm>
            <a:off x="9395072" y="1671321"/>
            <a:ext cx="1984128" cy="4373880"/>
          </a:xfrm>
          <a:prstGeom prst="roundRect">
            <a:avLst>
              <a:gd name="adj" fmla="val 5121"/>
            </a:avLst>
          </a:prstGeom>
          <a:solidFill>
            <a:srgbClr val="0F1A2B"/>
          </a:solidFill>
          <a:ln/>
        </p:spPr>
      </p:sp>
      <p:sp>
        <p:nvSpPr>
          <p:cNvPr id="24" name="Text 22"/>
          <p:cNvSpPr/>
          <p:nvPr/>
        </p:nvSpPr>
        <p:spPr>
          <a:xfrm>
            <a:off x="9572872" y="1849121"/>
            <a:ext cx="1679328"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A66B"/>
                </a:solidFill>
                <a:latin typeface="JetBrains Mono" pitchFamily="49" charset="0"/>
                <a:ea typeface="JetBrains Mono" pitchFamily="49" charset="-122"/>
                <a:cs typeface="JetBrains Mono" pitchFamily="49" charset="-120"/>
              </a:rPr>
              <a:t>BONUS</a:t>
            </a:r>
            <a:endParaRPr lang="en-US" sz="1200" dirty="0"/>
          </a:p>
        </p:txBody>
      </p:sp>
      <p:sp>
        <p:nvSpPr>
          <p:cNvPr id="25" name="Text 23"/>
          <p:cNvSpPr/>
          <p:nvPr/>
        </p:nvSpPr>
        <p:spPr>
          <a:xfrm>
            <a:off x="9572872" y="2164082"/>
            <a:ext cx="1679328"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5F0"/>
                </a:solidFill>
                <a:latin typeface="IBM Plex Sans" pitchFamily="34" charset="0"/>
                <a:ea typeface="IBM Plex Sans" pitchFamily="34" charset="-122"/>
                <a:cs typeface="IBM Plex Sans" pitchFamily="34" charset="-120"/>
              </a:rPr>
              <a:t>Attack it</a:t>
            </a:r>
            <a:endParaRPr lang="en-US" sz="1700" dirty="0"/>
          </a:p>
        </p:txBody>
      </p:sp>
      <p:sp>
        <p:nvSpPr>
          <p:cNvPr id="26" name="Text 24"/>
          <p:cNvSpPr/>
          <p:nvPr/>
        </p:nvSpPr>
        <p:spPr>
          <a:xfrm>
            <a:off x="9572872" y="2524761"/>
            <a:ext cx="167932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MITM, downgrade, replay and HNDL demos.</a:t>
            </a:r>
            <a:endParaRPr lang="en-US" sz="1300" dirty="0"/>
          </a:p>
        </p:txBody>
      </p:sp>
      <p:sp>
        <p:nvSpPr>
          <p:cNvPr id="27" name="Text 25"/>
          <p:cNvSpPr/>
          <p:nvPr/>
        </p:nvSpPr>
        <p:spPr>
          <a:xfrm>
            <a:off x="9572872" y="5227321"/>
            <a:ext cx="1679328"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66B"/>
                </a:solidFill>
                <a:latin typeface="IBM Plex Sans" pitchFamily="34" charset="0"/>
                <a:ea typeface="IBM Plex Sans" pitchFamily="34" charset="-122"/>
                <a:cs typeface="IBM Plex Sans" pitchFamily="34" charset="-120"/>
              </a:rPr>
              <a:t>Done when:</a:t>
            </a:r>
            <a:r>
              <a:rPr lang="en-US" sz="1200" dirty="0">
                <a:solidFill>
                  <a:srgbClr val="F2A66B"/>
                </a:solidFill>
                <a:latin typeface="IBM Plex Sans" pitchFamily="34" charset="0"/>
                <a:ea typeface="IBM Plex Sans" pitchFamily="34" charset="-122"/>
                <a:cs typeface="IBM Plex Sans" pitchFamily="34" charset="-120"/>
              </a:rPr>
              <a:t> each attack is shown being blocked.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A12"/>
                </a:solidFill>
                <a:latin typeface="JetBrains Mono" pitchFamily="49" charset="0"/>
                <a:ea typeface="JetBrains Mono" pitchFamily="49" charset="-122"/>
                <a:cs typeface="JetBrains Mono" pitchFamily="49" charset="-120"/>
              </a:rPr>
              <a:t>THE EVALUATION</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Attacking our own protocol</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1946768"/>
          <a:ext cx="10555111" cy="3303694"/>
        </p:xfrm>
        <a:graphic>
          <a:graphicData uri="http://schemas.openxmlformats.org/drawingml/2006/table">
            <a:tbl>
              <a:tblPr/>
              <a:tblGrid>
                <a:gridCol w="2533227"/>
                <a:gridCol w="4222044"/>
                <a:gridCol w="3799840"/>
              </a:tblGrid>
              <a:tr h="384669">
                <a:tc>
                  <a:txBody>
                    <a:bodyPr/>
                    <a:lstStyle/>
                    <a:p>
                      <a:pPr indent="0" marL="0">
                        <a:lnSpc>
                          <a:spcPts val="1960"/>
                        </a:lnSpc>
                        <a:buNone/>
                      </a:pPr>
                      <a:r>
                        <a:rPr lang="en-US" sz="1400" b="1" dirty="0">
                          <a:solidFill>
                            <a:srgbClr val="F6F5F0"/>
                          </a:solidFill>
                          <a:latin typeface="IBM Plex Sans" pitchFamily="34" charset="0"/>
                          <a:ea typeface="IBM Plex Sans" pitchFamily="34" charset="-122"/>
                          <a:cs typeface="IBM Plex Sans" pitchFamily="34" charset="-120"/>
                        </a:rPr>
                        <a:t>Attack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10192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01926"/>
                      </a:solidFill>
                      <a:prstDash val="solid"/>
                      <a:round/>
                      <a:headEnd type="none" w="med" len="med"/>
                      <a:tailEnd type="none" w="med" len="med"/>
                    </a:lnB>
                    <a:solidFill>
                      <a:srgbClr val="0F1A2B"/>
                    </a:solidFill>
                  </a:tcPr>
                </a:tc>
                <a:tc>
                  <a:txBody>
                    <a:bodyPr/>
                    <a:lstStyle/>
                    <a:p>
                      <a:pPr indent="0" marL="0">
                        <a:lnSpc>
                          <a:spcPts val="1960"/>
                        </a:lnSpc>
                        <a:buNone/>
                      </a:pPr>
                      <a:r>
                        <a:rPr lang="en-US" sz="1400" b="1" dirty="0">
                          <a:solidFill>
                            <a:srgbClr val="F6F5F0"/>
                          </a:solidFill>
                          <a:latin typeface="IBM Plex Sans" pitchFamily="34" charset="0"/>
                          <a:ea typeface="IBM Plex Sans" pitchFamily="34" charset="-122"/>
                          <a:cs typeface="IBM Plex Sans" pitchFamily="34" charset="-120"/>
                        </a:rPr>
                        <a:t>What we try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01926"/>
                      </a:solidFill>
                      <a:prstDash val="solid"/>
                      <a:round/>
                      <a:headEnd type="none" w="med" len="med"/>
                      <a:tailEnd type="none" w="med" len="med"/>
                    </a:lnL>
                    <a:lnR w="12700" cap="flat" cmpd="sng" algn="ctr">
                      <a:solidFill>
                        <a:srgbClr val="10192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01926"/>
                      </a:solidFill>
                      <a:prstDash val="solid"/>
                      <a:round/>
                      <a:headEnd type="none" w="med" len="med"/>
                      <a:tailEnd type="none" w="med" len="med"/>
                    </a:lnB>
                    <a:solidFill>
                      <a:srgbClr val="0F1A2B"/>
                    </a:solidFill>
                  </a:tcPr>
                </a:tc>
                <a:tc>
                  <a:txBody>
                    <a:bodyPr/>
                    <a:lstStyle/>
                    <a:p>
                      <a:pPr indent="0" marL="0">
                        <a:lnSpc>
                          <a:spcPts val="1960"/>
                        </a:lnSpc>
                        <a:buNone/>
                      </a:pPr>
                      <a:r>
                        <a:rPr lang="en-US" sz="1400" b="1" dirty="0">
                          <a:solidFill>
                            <a:srgbClr val="F6F5F0"/>
                          </a:solidFill>
                          <a:latin typeface="IBM Plex Sans" pitchFamily="34" charset="0"/>
                          <a:ea typeface="IBM Plex Sans" pitchFamily="34" charset="-122"/>
                          <a:cs typeface="IBM Plex Sans" pitchFamily="34" charset="-120"/>
                        </a:rPr>
                        <a:t>Defense that stops it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01926"/>
                      </a:solidFill>
                      <a:prstDash val="solid"/>
                      <a:round/>
                      <a:headEnd type="none" w="med" len="med"/>
                      <a:tailEnd type="none" w="med" len="med"/>
                    </a:lnL>
                    <a:lnR w="12700" cap="flat" cmpd="sng" algn="ctr">
                      <a:solidFill>
                        <a:srgbClr val="10192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01926"/>
                      </a:solidFill>
                      <a:prstDash val="solid"/>
                      <a:round/>
                      <a:headEnd type="none" w="med" len="med"/>
                      <a:tailEnd type="none" w="med" len="med"/>
                    </a:lnB>
                    <a:solidFill>
                      <a:srgbClr val="0F1A2B"/>
                    </a:solidFill>
                  </a:tcPr>
                </a:tc>
              </a:tr>
              <a:tr h="633589">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Man-in-the-middle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01926"/>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Run the handshake with signatures switched off and relay both sides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01926"/>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Server signature over the transcript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01926"/>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633589">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Downgrade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Swap in ML-KEM-512 or an X25519 share mid-flight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Fixed suite, transcript binding + Finished MACs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384669">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Replay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Resend a captured ClientHello or record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Fresh nonces and record sequence numbers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633589">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Tampering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Flip bytes in a key share or ciphertext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Signature check and AES-GCM authentication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633589">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Harvest now, decrypt later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Record traffic, then give the attacker a simulated Shor oracle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ML-KEM-1024: no known quantum shortcut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bl>
          </a:graphicData>
        </a:graphic>
      </p:graphicFrame>
      <p:sp>
        <p:nvSpPr>
          <p:cNvPr id="5" name="Text 2"/>
          <p:cNvSpPr/>
          <p:nvPr/>
        </p:nvSpPr>
        <p:spPr>
          <a:xfrm>
            <a:off x="812800" y="5440680"/>
            <a:ext cx="10883392"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IBM Plex Sans" pitchFamily="34" charset="0"/>
                <a:ea typeface="IBM Plex Sans" pitchFamily="34" charset="-122"/>
                <a:cs typeface="IBM Plex Sans" pitchFamily="34" charset="-120"/>
              </a:rPr>
              <a:t>For each row: show the attack succeeding on a weakened build, then failing on the real one.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3D"/>
                </a:solidFill>
                <a:latin typeface="IBM Plex Sans" pitchFamily="34" charset="0"/>
                <a:ea typeface="IBM Plex Sans" pitchFamily="34" charset="-122"/>
                <a:cs typeface="IBM Plex Sans" pitchFamily="34" charset="-120"/>
              </a:rPr>
              <a:t>Benchmark plan</a:t>
            </a:r>
            <a:endParaRPr lang="en-US" sz="3600" dirty="0"/>
          </a:p>
        </p:txBody>
      </p:sp>
      <p:sp>
        <p:nvSpPr>
          <p:cNvPr id="3" name="Text 1"/>
          <p:cNvSpPr/>
          <p:nvPr/>
        </p:nvSpPr>
        <p:spPr>
          <a:xfrm>
            <a:off x="812800" y="1620521"/>
            <a:ext cx="52324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B7A6E"/>
                </a:solidFill>
                <a:latin typeface="IBM Plex Sans" pitchFamily="34" charset="0"/>
                <a:ea typeface="IBM Plex Sans" pitchFamily="34" charset="-122"/>
                <a:cs typeface="IBM Plex Sans" pitchFamily="34" charset="-120"/>
              </a:rPr>
              <a:t>What gets bigger</a:t>
            </a:r>
            <a:endParaRPr lang="en-US" sz="1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4089" y="2058531"/>
          <a:ext cx="5212080" cy="1789995"/>
        </p:xfrm>
        <a:graphic>
          <a:graphicData uri="http://schemas.openxmlformats.org/drawingml/2006/table">
            <a:tbl>
              <a:tblPr/>
              <a:tblGrid>
                <a:gridCol w="1371600"/>
                <a:gridCol w="1097280"/>
                <a:gridCol w="1280160"/>
                <a:gridCol w="1463040"/>
              </a:tblGrid>
              <a:tr h="357999">
                <a:tc>
                  <a:txBody>
                    <a:bodyPr/>
                    <a:lstStyle/>
                    <a:p>
                      <a:pPr indent="0" marL="0">
                        <a:lnSpc>
                          <a:spcPts val="1820"/>
                        </a:lnSpc>
                        <a:buNone/>
                      </a:pPr>
                      <a:r>
                        <a:rPr lang="en-US" sz="1300" b="1" dirty="0">
                          <a:solidFill>
                            <a:srgbClr val="F6F5F0"/>
                          </a:solidFill>
                          <a:latin typeface="IBM Plex Sans" pitchFamily="34" charset="0"/>
                          <a:ea typeface="IBM Plex Sans" pitchFamily="34" charset="-122"/>
                          <a:cs typeface="IBM Plex Sans" pitchFamily="34" charset="-120"/>
                        </a:rPr>
                        <a:t>Item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10192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01926"/>
                      </a:solidFill>
                      <a:prstDash val="solid"/>
                      <a:round/>
                      <a:headEnd type="none" w="med" len="med"/>
                      <a:tailEnd type="none" w="med" len="med"/>
                    </a:lnB>
                    <a:solidFill>
                      <a:srgbClr val="0F1A2B"/>
                    </a:solidFill>
                  </a:tcPr>
                </a:tc>
                <a:tc>
                  <a:txBody>
                    <a:bodyPr/>
                    <a:lstStyle/>
                    <a:p>
                      <a:pPr algn="r" indent="0" marL="0">
                        <a:lnSpc>
                          <a:spcPts val="1820"/>
                        </a:lnSpc>
                        <a:buNone/>
                      </a:pPr>
                      <a:r>
                        <a:rPr lang="en-US" sz="1300" b="1" dirty="0">
                          <a:solidFill>
                            <a:srgbClr val="F6F5F0"/>
                          </a:solidFill>
                          <a:latin typeface="IBM Plex Sans" pitchFamily="34" charset="0"/>
                          <a:ea typeface="IBM Plex Sans" pitchFamily="34" charset="-122"/>
                          <a:cs typeface="IBM Plex Sans" pitchFamily="34" charset="-120"/>
                        </a:rPr>
                        <a:t>Classical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1926"/>
                      </a:solidFill>
                      <a:prstDash val="solid"/>
                      <a:round/>
                      <a:headEnd type="none" w="med" len="med"/>
                      <a:tailEnd type="none" w="med" len="med"/>
                    </a:lnL>
                    <a:lnR w="12700" cap="flat" cmpd="sng" algn="ctr">
                      <a:solidFill>
                        <a:srgbClr val="10192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01926"/>
                      </a:solidFill>
                      <a:prstDash val="solid"/>
                      <a:round/>
                      <a:headEnd type="none" w="med" len="med"/>
                      <a:tailEnd type="none" w="med" len="med"/>
                    </a:lnB>
                    <a:solidFill>
                      <a:srgbClr val="0F1A2B"/>
                    </a:solidFill>
                  </a:tcPr>
                </a:tc>
                <a:tc>
                  <a:txBody>
                    <a:bodyPr/>
                    <a:lstStyle/>
                    <a:p>
                      <a:pPr algn="r" indent="0" marL="0">
                        <a:lnSpc>
                          <a:spcPts val="1820"/>
                        </a:lnSpc>
                        <a:buNone/>
                      </a:pPr>
                      <a:r>
                        <a:rPr lang="en-US" sz="1300" b="1" dirty="0">
                          <a:solidFill>
                            <a:srgbClr val="F6F5F0"/>
                          </a:solidFill>
                          <a:latin typeface="IBM Plex Sans" pitchFamily="34" charset="0"/>
                          <a:ea typeface="IBM Plex Sans" pitchFamily="34" charset="-122"/>
                          <a:cs typeface="IBM Plex Sans" pitchFamily="34" charset="-120"/>
                        </a:rPr>
                        <a:t>ML-KEM-768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1926"/>
                      </a:solidFill>
                      <a:prstDash val="solid"/>
                      <a:round/>
                      <a:headEnd type="none" w="med" len="med"/>
                      <a:tailEnd type="none" w="med" len="med"/>
                    </a:lnL>
                    <a:lnR w="12700" cap="flat" cmpd="sng" algn="ctr">
                      <a:solidFill>
                        <a:srgbClr val="10192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01926"/>
                      </a:solidFill>
                      <a:prstDash val="solid"/>
                      <a:round/>
                      <a:headEnd type="none" w="med" len="med"/>
                      <a:tailEnd type="none" w="med" len="med"/>
                    </a:lnB>
                    <a:solidFill>
                      <a:srgbClr val="0F1A2B"/>
                    </a:solidFill>
                  </a:tcPr>
                </a:tc>
                <a:tc>
                  <a:txBody>
                    <a:bodyPr/>
                    <a:lstStyle/>
                    <a:p>
                      <a:pPr algn="r" indent="0" marL="0">
                        <a:lnSpc>
                          <a:spcPts val="1820"/>
                        </a:lnSpc>
                        <a:buNone/>
                      </a:pPr>
                      <a:r>
                        <a:rPr lang="en-US" sz="1300" b="1" dirty="0">
                          <a:solidFill>
                            <a:srgbClr val="F6F5F0"/>
                          </a:solidFill>
                          <a:latin typeface="IBM Plex Sans" pitchFamily="34" charset="0"/>
                          <a:ea typeface="IBM Plex Sans" pitchFamily="34" charset="-122"/>
                          <a:cs typeface="IBM Plex Sans" pitchFamily="34" charset="-120"/>
                        </a:rPr>
                        <a:t>ML-KEM-1024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01926"/>
                      </a:solidFill>
                      <a:prstDash val="solid"/>
                      <a:round/>
                      <a:headEnd type="none" w="med" len="med"/>
                      <a:tailEnd type="none" w="med" len="med"/>
                    </a:lnL>
                    <a:lnR w="12700" cap="flat" cmpd="sng" algn="ctr">
                      <a:solidFill>
                        <a:srgbClr val="101926"/>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101926"/>
                      </a:solidFill>
                      <a:prstDash val="solid"/>
                      <a:round/>
                      <a:headEnd type="none" w="med" len="med"/>
                      <a:tailEnd type="none" w="med" len="med"/>
                    </a:lnB>
                    <a:solidFill>
                      <a:srgbClr val="0F1A2B"/>
                    </a:solidFill>
                  </a:tcPr>
                </a:tc>
              </a:tr>
              <a:tr h="35799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Key share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01926"/>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32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01926"/>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1,184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01926"/>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1,568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101926"/>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99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Ciphertext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32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1,088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1,568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r h="35799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Signature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64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3,309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4,627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C4C4BF"/>
                      </a:solidFill>
                      <a:prstDash val="solid"/>
                      <a:round/>
                      <a:headEnd type="none" w="med" len="med"/>
                      <a:tailEnd type="none" w="med" len="med"/>
                    </a:lnR>
                    <a:lnT w="12700" cap="flat" cmpd="sng" algn="ctr">
                      <a:solidFill>
                        <a:srgbClr val="BCBBB4"/>
                      </a:solidFill>
                      <a:prstDash val="solid"/>
                      <a:round/>
                      <a:headEnd type="none" w="med" len="med"/>
                      <a:tailEnd type="none" w="med" len="med"/>
                    </a:lnT>
                    <a:lnB w="12700" cap="flat" cmpd="sng" algn="ctr">
                      <a:solidFill>
                        <a:srgbClr val="C4C4BF"/>
                      </a:solidFill>
                      <a:prstDash val="solid"/>
                      <a:round/>
                      <a:headEnd type="none" w="med" len="med"/>
                      <a:tailEnd type="none" w="med" len="med"/>
                    </a:lnB>
                  </a:tcPr>
                </a:tc>
              </a:tr>
              <a:tr h="357999">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Shared secret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4BF"/>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32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32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32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BB4"/>
                      </a:solidFill>
                      <a:prstDash val="solid"/>
                      <a:round/>
                      <a:headEnd type="none" w="med" len="med"/>
                      <a:tailEnd type="none" w="med" len="med"/>
                    </a:lnL>
                    <a:lnR w="12700" cap="flat" cmpd="sng" algn="ctr">
                      <a:solidFill>
                        <a:srgbClr val="BCBBB4"/>
                      </a:solidFill>
                      <a:prstDash val="solid"/>
                      <a:round/>
                      <a:headEnd type="none" w="med" len="med"/>
                      <a:tailEnd type="none" w="med" len="med"/>
                    </a:lnR>
                    <a:lnT w="12700" cap="flat" cmpd="sng" algn="ctr">
                      <a:solidFill>
                        <a:srgbClr val="C4C4BF"/>
                      </a:solidFill>
                      <a:prstDash val="solid"/>
                      <a:round/>
                      <a:headEnd type="none" w="med" len="med"/>
                      <a:tailEnd type="none" w="med" len="med"/>
                    </a:lnT>
                    <a:lnB w="12700" cap="flat" cmpd="sng" algn="ctr">
                      <a:solidFill>
                        <a:srgbClr val="BCBBB4"/>
                      </a:solidFill>
                      <a:prstDash val="solid"/>
                      <a:round/>
                      <a:headEnd type="none" w="med" len="med"/>
                      <a:tailEnd type="none" w="med" len="med"/>
                    </a:lnB>
                    <a:solidFill>
                      <a:srgbClr val="ECEAE2"/>
                    </a:solidFill>
                  </a:tcPr>
                </a:tc>
              </a:tr>
            </a:tbl>
          </a:graphicData>
        </a:graphic>
      </p:graphicFrame>
      <p:sp>
        <p:nvSpPr>
          <p:cNvPr id="5" name="Text 2"/>
          <p:cNvSpPr/>
          <p:nvPr/>
        </p:nvSpPr>
        <p:spPr>
          <a:xfrm>
            <a:off x="812800" y="4000928"/>
            <a:ext cx="52324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Classical: X25519/Ed25519. Middle: ML-KEM-768/ML-DSA-65. Ours: ML-KEM-1024/ML-DSA-87. Size is the real cost.</a:t>
            </a:r>
            <a:endParaRPr lang="en-US" sz="1200" dirty="0"/>
          </a:p>
        </p:txBody>
      </p:sp>
      <p:sp>
        <p:nvSpPr>
          <p:cNvPr id="6" name="Text 3"/>
          <p:cNvSpPr/>
          <p:nvPr/>
        </p:nvSpPr>
        <p:spPr>
          <a:xfrm>
            <a:off x="6299200" y="1620521"/>
            <a:ext cx="5232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Configurations</a:t>
            </a:r>
            <a:endParaRPr lang="en-US" sz="1500" dirty="0"/>
          </a:p>
        </p:txBody>
      </p:sp>
      <p:sp>
        <p:nvSpPr>
          <p:cNvPr id="7" name="Text 4"/>
          <p:cNvSpPr/>
          <p:nvPr/>
        </p:nvSpPr>
        <p:spPr>
          <a:xfrm>
            <a:off x="6299200" y="1887221"/>
            <a:ext cx="52324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Classical baseline, the old hybrid, and our ML-KEM-1024 + ML-DSA-87.</a:t>
            </a:r>
            <a:endParaRPr lang="en-US" sz="1300" dirty="0"/>
          </a:p>
        </p:txBody>
      </p:sp>
      <p:sp>
        <p:nvSpPr>
          <p:cNvPr id="8" name="Text 5"/>
          <p:cNvSpPr/>
          <p:nvPr/>
        </p:nvSpPr>
        <p:spPr>
          <a:xfrm>
            <a:off x="6299200" y="2501900"/>
            <a:ext cx="5232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Metrics</a:t>
            </a:r>
            <a:endParaRPr lang="en-US" sz="1500" dirty="0"/>
          </a:p>
        </p:txBody>
      </p:sp>
      <p:sp>
        <p:nvSpPr>
          <p:cNvPr id="9" name="Text 6"/>
          <p:cNvSpPr/>
          <p:nvPr/>
        </p:nvSpPr>
        <p:spPr>
          <a:xfrm>
            <a:off x="6299200" y="2768600"/>
            <a:ext cx="52324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Handshake latency (p50, p95), bytes on the wire, TCP segments per ClientHello, CPU time per operation.</a:t>
            </a:r>
            <a:endParaRPr lang="en-US" sz="1300" dirty="0"/>
          </a:p>
        </p:txBody>
      </p:sp>
      <p:sp>
        <p:nvSpPr>
          <p:cNvPr id="10" name="Text 7"/>
          <p:cNvSpPr/>
          <p:nvPr/>
        </p:nvSpPr>
        <p:spPr>
          <a:xfrm>
            <a:off x="6299200" y="3383279"/>
            <a:ext cx="5232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Network conditions</a:t>
            </a:r>
            <a:endParaRPr lang="en-US" sz="1500" dirty="0"/>
          </a:p>
        </p:txBody>
      </p:sp>
      <p:sp>
        <p:nvSpPr>
          <p:cNvPr id="11" name="Text 8"/>
          <p:cNvSpPr/>
          <p:nvPr/>
        </p:nvSpPr>
        <p:spPr>
          <a:xfrm>
            <a:off x="6299200" y="3649979"/>
            <a:ext cx="52324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tc netem: RTT of 20, 100 and 300 ms; packet loss of 0, 1 and 5%.</a:t>
            </a:r>
            <a:endParaRPr lang="en-US" sz="1300" dirty="0"/>
          </a:p>
        </p:txBody>
      </p:sp>
      <p:sp>
        <p:nvSpPr>
          <p:cNvPr id="12" name="Text 9"/>
          <p:cNvSpPr/>
          <p:nvPr/>
        </p:nvSpPr>
        <p:spPr>
          <a:xfrm>
            <a:off x="6299200" y="4033521"/>
            <a:ext cx="52324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Ground truth</a:t>
            </a:r>
            <a:endParaRPr lang="en-US" sz="1500" dirty="0"/>
          </a:p>
        </p:txBody>
      </p:sp>
      <p:sp>
        <p:nvSpPr>
          <p:cNvPr id="13" name="Text 10"/>
          <p:cNvSpPr/>
          <p:nvPr/>
        </p:nvSpPr>
        <p:spPr>
          <a:xfrm>
            <a:off x="6299200" y="4300221"/>
            <a:ext cx="52324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Repeat runs against OpenSSL 3.5 with the MLKEM1024 group, captured in Wireshark.</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A2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6F5F0"/>
                </a:solidFill>
                <a:latin typeface="IBM Plex Sans" pitchFamily="34" charset="0"/>
                <a:ea typeface="IBM Plex Sans" pitchFamily="34" charset="-122"/>
                <a:cs typeface="IBM Plex Sans" pitchFamily="34" charset="-120"/>
              </a:rPr>
              <a:t>What we’ll have at the end</a:t>
            </a:r>
            <a:endParaRPr lang="en-US" sz="3600" dirty="0"/>
          </a:p>
        </p:txBody>
      </p:sp>
      <p:sp>
        <p:nvSpPr>
          <p:cNvPr id="3" name="Shape 1"/>
          <p:cNvSpPr/>
          <p:nvPr/>
        </p:nvSpPr>
        <p:spPr>
          <a:xfrm>
            <a:off x="815975" y="1674496"/>
            <a:ext cx="5175250" cy="1232041"/>
          </a:xfrm>
          <a:prstGeom prst="roundRect">
            <a:avLst>
              <a:gd name="adj" fmla="val 7989"/>
            </a:avLst>
          </a:prstGeom>
          <a:solidFill>
            <a:srgbClr val="1B2A40"/>
          </a:solidFill>
          <a:ln w="6350">
            <a:solidFill>
              <a:srgbClr val="2E4260"/>
            </a:solidFill>
            <a:prstDash val="solid"/>
          </a:ln>
        </p:spPr>
      </p:sp>
      <p:pic>
        <p:nvPicPr>
          <p:cNvPr id="4" name="Image 0" descr="Code">    </p:cNvPr>
          <p:cNvPicPr>
            <a:picLocks noChangeAspect="1"/>
          </p:cNvPicPr>
          <p:nvPr/>
        </p:nvPicPr>
        <p:blipFill>
          <a:blip r:embed="rId1"/>
          <a:srcRect l="0" r="0" t="0" b="0"/>
          <a:stretch/>
        </p:blipFill>
        <p:spPr>
          <a:xfrm>
            <a:off x="1045916" y="1904436"/>
            <a:ext cx="304800" cy="304800"/>
          </a:xfrm>
          <a:prstGeom prst="rect">
            <a:avLst/>
          </a:prstGeom>
        </p:spPr>
      </p:pic>
      <p:sp>
        <p:nvSpPr>
          <p:cNvPr id="5" name="Text 2"/>
          <p:cNvSpPr/>
          <p:nvPr/>
        </p:nvSpPr>
        <p:spPr>
          <a:xfrm>
            <a:off x="1503116" y="1904436"/>
            <a:ext cx="438591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5F0"/>
                </a:solidFill>
                <a:latin typeface="IBM Plex Sans" pitchFamily="34" charset="0"/>
                <a:ea typeface="IBM Plex Sans" pitchFamily="34" charset="-122"/>
                <a:cs typeface="IBM Plex Sans" pitchFamily="34" charset="-120"/>
              </a:rPr>
              <a:t>Working implementation</a:t>
            </a:r>
            <a:endParaRPr lang="en-US" sz="1700" dirty="0"/>
          </a:p>
        </p:txBody>
      </p:sp>
      <p:sp>
        <p:nvSpPr>
          <p:cNvPr id="6" name="Text 3"/>
          <p:cNvSpPr/>
          <p:nvPr/>
        </p:nvSpPr>
        <p:spPr>
          <a:xfrm>
            <a:off x="1503116" y="2214314"/>
            <a:ext cx="438591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ML-KEM-1024 client and server in Python, with a Go port.</a:t>
            </a:r>
            <a:endParaRPr lang="en-US" sz="1300" dirty="0"/>
          </a:p>
        </p:txBody>
      </p:sp>
      <p:sp>
        <p:nvSpPr>
          <p:cNvPr id="7" name="Shape 4"/>
          <p:cNvSpPr/>
          <p:nvPr/>
        </p:nvSpPr>
        <p:spPr>
          <a:xfrm>
            <a:off x="6200775" y="1674496"/>
            <a:ext cx="5175250" cy="1232041"/>
          </a:xfrm>
          <a:prstGeom prst="roundRect">
            <a:avLst>
              <a:gd name="adj" fmla="val 7989"/>
            </a:avLst>
          </a:prstGeom>
          <a:solidFill>
            <a:srgbClr val="1B2A40"/>
          </a:solidFill>
          <a:ln w="6350">
            <a:solidFill>
              <a:srgbClr val="2E4260"/>
            </a:solidFill>
            <a:prstDash val="solid"/>
          </a:ln>
        </p:spPr>
      </p:sp>
      <p:pic>
        <p:nvPicPr>
          <p:cNvPr id="8" name="Image 1" descr="Chart">    </p:cNvPr>
          <p:cNvPicPr>
            <a:picLocks noChangeAspect="1"/>
          </p:cNvPicPr>
          <p:nvPr/>
        </p:nvPicPr>
        <p:blipFill>
          <a:blip r:embed="rId2"/>
          <a:srcRect l="0" r="0" t="0" b="0"/>
          <a:stretch/>
        </p:blipFill>
        <p:spPr>
          <a:xfrm>
            <a:off x="6430716" y="1904436"/>
            <a:ext cx="304800" cy="304800"/>
          </a:xfrm>
          <a:prstGeom prst="rect">
            <a:avLst/>
          </a:prstGeom>
        </p:spPr>
      </p:pic>
      <p:sp>
        <p:nvSpPr>
          <p:cNvPr id="9" name="Text 5"/>
          <p:cNvSpPr/>
          <p:nvPr/>
        </p:nvSpPr>
        <p:spPr>
          <a:xfrm>
            <a:off x="6887916" y="1904436"/>
            <a:ext cx="438591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5F0"/>
                </a:solidFill>
                <a:latin typeface="IBM Plex Sans" pitchFamily="34" charset="0"/>
                <a:ea typeface="IBM Plex Sans" pitchFamily="34" charset="-122"/>
                <a:cs typeface="IBM Plex Sans" pitchFamily="34" charset="-120"/>
              </a:rPr>
              <a:t>Benchmark report</a:t>
            </a:r>
            <a:endParaRPr lang="en-US" sz="1700" dirty="0"/>
          </a:p>
        </p:txBody>
      </p:sp>
      <p:sp>
        <p:nvSpPr>
          <p:cNvPr id="10" name="Text 6"/>
          <p:cNvSpPr/>
          <p:nvPr/>
        </p:nvSpPr>
        <p:spPr>
          <a:xfrm>
            <a:off x="6887916" y="2214314"/>
            <a:ext cx="438591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Graphs of latency and bytes across configurations and networks.</a:t>
            </a:r>
            <a:endParaRPr lang="en-US" sz="1300" dirty="0"/>
          </a:p>
        </p:txBody>
      </p:sp>
      <p:sp>
        <p:nvSpPr>
          <p:cNvPr id="11" name="Shape 7"/>
          <p:cNvSpPr/>
          <p:nvPr/>
        </p:nvSpPr>
        <p:spPr>
          <a:xfrm>
            <a:off x="815975" y="3116089"/>
            <a:ext cx="5175250" cy="1232041"/>
          </a:xfrm>
          <a:prstGeom prst="roundRect">
            <a:avLst>
              <a:gd name="adj" fmla="val 7989"/>
            </a:avLst>
          </a:prstGeom>
          <a:solidFill>
            <a:srgbClr val="1B2A40"/>
          </a:solidFill>
          <a:ln w="6350">
            <a:solidFill>
              <a:srgbClr val="2E4260"/>
            </a:solidFill>
            <a:prstDash val="solid"/>
          </a:ln>
        </p:spPr>
      </p:sp>
      <p:pic>
        <p:nvPicPr>
          <p:cNvPr id="12" name="Image 2" descr="Lock">    </p:cNvPr>
          <p:cNvPicPr>
            <a:picLocks noChangeAspect="1"/>
          </p:cNvPicPr>
          <p:nvPr/>
        </p:nvPicPr>
        <p:blipFill>
          <a:blip r:embed="rId3"/>
          <a:srcRect l="0" r="0" t="0" b="0"/>
          <a:stretch/>
        </p:blipFill>
        <p:spPr>
          <a:xfrm>
            <a:off x="1045916" y="3346028"/>
            <a:ext cx="304800" cy="304800"/>
          </a:xfrm>
          <a:prstGeom prst="rect">
            <a:avLst/>
          </a:prstGeom>
        </p:spPr>
      </p:pic>
      <p:sp>
        <p:nvSpPr>
          <p:cNvPr id="13" name="Text 8"/>
          <p:cNvSpPr/>
          <p:nvPr/>
        </p:nvSpPr>
        <p:spPr>
          <a:xfrm>
            <a:off x="1503116" y="3346028"/>
            <a:ext cx="438591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5F0"/>
                </a:solidFill>
                <a:latin typeface="IBM Plex Sans" pitchFamily="34" charset="0"/>
                <a:ea typeface="IBM Plex Sans" pitchFamily="34" charset="-122"/>
                <a:cs typeface="IBM Plex Sans" pitchFamily="34" charset="-120"/>
              </a:rPr>
              <a:t>Attack demos</a:t>
            </a:r>
            <a:endParaRPr lang="en-US" sz="1700" dirty="0"/>
          </a:p>
        </p:txBody>
      </p:sp>
      <p:sp>
        <p:nvSpPr>
          <p:cNvPr id="14" name="Text 9"/>
          <p:cNvSpPr/>
          <p:nvPr/>
        </p:nvSpPr>
        <p:spPr>
          <a:xfrm>
            <a:off x="1503116" y="3655907"/>
            <a:ext cx="438591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MITM, downgrade, replay, tampering and HNDL, each shown blocked.</a:t>
            </a:r>
            <a:endParaRPr lang="en-US" sz="1300" dirty="0"/>
          </a:p>
        </p:txBody>
      </p:sp>
      <p:sp>
        <p:nvSpPr>
          <p:cNvPr id="15" name="Shape 10"/>
          <p:cNvSpPr/>
          <p:nvPr/>
        </p:nvSpPr>
        <p:spPr>
          <a:xfrm>
            <a:off x="6200775" y="3116089"/>
            <a:ext cx="5175250" cy="1232041"/>
          </a:xfrm>
          <a:prstGeom prst="roundRect">
            <a:avLst>
              <a:gd name="adj" fmla="val 7989"/>
            </a:avLst>
          </a:prstGeom>
          <a:solidFill>
            <a:srgbClr val="1B2A40"/>
          </a:solidFill>
          <a:ln w="6350">
            <a:solidFill>
              <a:srgbClr val="2E4260"/>
            </a:solidFill>
            <a:prstDash val="solid"/>
          </a:ln>
        </p:spPr>
      </p:sp>
      <p:pic>
        <p:nvPicPr>
          <p:cNvPr id="16" name="Image 3" descr="Book">    </p:cNvPr>
          <p:cNvPicPr>
            <a:picLocks noChangeAspect="1"/>
          </p:cNvPicPr>
          <p:nvPr/>
        </p:nvPicPr>
        <p:blipFill>
          <a:blip r:embed="rId4"/>
          <a:srcRect l="0" r="0" t="0" b="0"/>
          <a:stretch/>
        </p:blipFill>
        <p:spPr>
          <a:xfrm>
            <a:off x="6430716" y="3346028"/>
            <a:ext cx="304800" cy="304800"/>
          </a:xfrm>
          <a:prstGeom prst="rect">
            <a:avLst/>
          </a:prstGeom>
        </p:spPr>
      </p:pic>
      <p:sp>
        <p:nvSpPr>
          <p:cNvPr id="17" name="Text 11"/>
          <p:cNvSpPr/>
          <p:nvPr/>
        </p:nvSpPr>
        <p:spPr>
          <a:xfrm>
            <a:off x="6887916" y="3346028"/>
            <a:ext cx="4385914"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6F5F0"/>
                </a:solidFill>
                <a:latin typeface="IBM Plex Sans" pitchFamily="34" charset="0"/>
                <a:ea typeface="IBM Plex Sans" pitchFamily="34" charset="-122"/>
                <a:cs typeface="IBM Plex Sans" pitchFamily="34" charset="-120"/>
              </a:rPr>
              <a:t>Write-up</a:t>
            </a:r>
            <a:endParaRPr lang="en-US" sz="1700" dirty="0"/>
          </a:p>
        </p:txBody>
      </p:sp>
      <p:sp>
        <p:nvSpPr>
          <p:cNvPr id="18" name="Text 12"/>
          <p:cNvSpPr/>
          <p:nvPr/>
        </p:nvSpPr>
        <p:spPr>
          <a:xfrm>
            <a:off x="6887916" y="3655907"/>
            <a:ext cx="438591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C4D6"/>
                </a:solidFill>
                <a:latin typeface="IBM Plex Sans" pitchFamily="34" charset="0"/>
                <a:ea typeface="IBM Plex Sans" pitchFamily="34" charset="-122"/>
                <a:cs typeface="IBM Plex Sans" pitchFamily="34" charset="-120"/>
              </a:rPr>
              <a:t>Short paper or Medium series; next step KEM-based authentication (KEMTLS).</a:t>
            </a:r>
            <a:endParaRPr lang="en-US" sz="1300" dirty="0"/>
          </a:p>
        </p:txBody>
      </p:sp>
      <p:sp>
        <p:nvSpPr>
          <p:cNvPr id="19" name="Text 13"/>
          <p:cNvSpPr/>
          <p:nvPr/>
        </p:nvSpPr>
        <p:spPr>
          <a:xfrm>
            <a:off x="812800" y="4706906"/>
            <a:ext cx="10883392" cy="283210"/>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F2A66B"/>
                </a:solidFill>
                <a:latin typeface="IBM Plex Sans" pitchFamily="34" charset="0"/>
                <a:ea typeface="IBM Plex Sans" pitchFamily="34" charset="-122"/>
                <a:cs typeface="IBM Plex Sans" pitchFamily="34" charset="-120"/>
              </a:rPr>
              <a:t>Caveat:</a:t>
            </a:r>
            <a:r>
              <a:rPr lang="en-US" sz="1400" dirty="0">
                <a:solidFill>
                  <a:srgbClr val="F2A66B"/>
                </a:solidFill>
                <a:latin typeface="IBM Plex Sans" pitchFamily="34" charset="0"/>
                <a:ea typeface="IBM Plex Sans" pitchFamily="34" charset="-122"/>
                <a:cs typeface="IBM Plex Sans" pitchFamily="34" charset="-120"/>
              </a:rPr>
              <a:t> a learning and research implementation — never for real traffic. The README will say so.</a:t>
            </a:r>
            <a:endParaRPr lang="en-US" sz="1400" dirty="0"/>
          </a:p>
        </p:txBody>
      </p:sp>
    </p:spTree>
  </p:cSld>
  <p:clrMapOvr>
    <a:masterClrMapping/>
  </p:clrMapOvr>
</p:sld>
</file>

<file path=ppt/theme/theme1.xml><?xml version="1.0" encoding="utf-8"?>
<a:theme xmlns:a="http://schemas.openxmlformats.org/drawingml/2006/main" name="Post-Quantum Hybrid Handshake">
  <a:themeElements>
    <a:clrScheme name="Post-Quantum Hybrid Handshake">
      <a:dk1>
        <a:srgbClr val="14213D"/>
      </a:dk1>
      <a:lt1>
        <a:srgbClr val="F6F5F0"/>
      </a:lt1>
      <a:dk2>
        <a:srgbClr val="4D566A"/>
      </a:dk2>
      <a:lt2>
        <a:srgbClr val="DFE0DE"/>
      </a:lt2>
      <a:accent1>
        <a:srgbClr val="0B7A6E"/>
      </a:accent1>
      <a:accent2>
        <a:srgbClr val="5FD4C4"/>
      </a:accent2>
      <a:accent3>
        <a:srgbClr val="F2A66B"/>
      </a:accent3>
      <a:accent4>
        <a:srgbClr val="B04A12"/>
      </a:accent4>
      <a:accent5>
        <a:srgbClr val="4A5568"/>
      </a:accent5>
      <a:accent6>
        <a:srgbClr val="B8C4D6"/>
      </a:accent6>
      <a:hlink>
        <a:srgbClr val="0563C1"/>
      </a:hlink>
      <a:folHlink>
        <a:srgbClr val="954F72"/>
      </a:folHlink>
    </a:clrScheme>
    <a:fontScheme name="Post-Quantum Hybrid Handshak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Post-Quantum Handshake (ML-KEM-1024)</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2026-10-21T07:27:16Z</dcterms:created>
  <dcterms:modified xsi:type="dcterms:W3CDTF">2026-10-21T07:27:16Z</dcterms:modified>
</cp:coreProperties>
</file>